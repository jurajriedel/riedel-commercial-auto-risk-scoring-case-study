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69" r:id="rId16"/>
    <p:sldId id="274" r:id="rId17"/>
    <p:sldId id="271" r:id="rId18"/>
    <p:sldId id="272" r:id="rId1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59" d="100"/>
          <a:sy n="159"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H_rok_Microsoft_Excelu.xlsx"/></Relationships>
</file>

<file path=ppt/charts/_rels/chart2.xml.rels><?xml version="1.0" encoding="UTF-8" standalone="yes"?>
<Relationships xmlns="http://schemas.openxmlformats.org/package/2006/relationships"><Relationship Id="rId1" Type="http://schemas.openxmlformats.org/officeDocument/2006/relationships/package" Target="../embeddings/H_rok_Microsoft_Excelu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k-SK"/>
  <c:roundedCorners val="1"/>
  <c:style val="2"/>
  <c:chart>
    <c:title>
      <c:tx>
        <c:rich>
          <a:bodyPr/>
          <a:lstStyle/>
          <a:p>
            <a:pPr>
              <a:defRPr sz="1300" b="0" i="0" u="none" strike="noStrike">
                <a:solidFill>
                  <a:srgbClr val="1A1F3D"/>
                </a:solidFill>
                <a:latin typeface="Arial"/>
              </a:defRPr>
            </a:pPr>
            <a:r>
              <a:rPr lang="sk-SK" sz="1300" b="0" i="0" u="none" strike="noStrike">
                <a:solidFill>
                  <a:srgbClr val="1A1F3D"/>
                </a:solidFill>
                <a:latin typeface="Arial"/>
              </a:rPr>
              <a:t>Share of policies by claim outcome (%)</a:t>
            </a:r>
          </a:p>
        </c:rich>
      </c:tx>
      <c:overlay val="0"/>
    </c:title>
    <c:autoTitleDeleted val="0"/>
    <c:plotArea>
      <c:layout/>
      <c:barChart>
        <c:barDir val="col"/>
        <c:grouping val="clustered"/>
        <c:varyColors val="0"/>
        <c:ser>
          <c:idx val="0"/>
          <c:order val="0"/>
          <c:tx>
            <c:strRef>
              <c:f>Sheet1!$B$1</c:f>
              <c:strCache>
                <c:ptCount val="1"/>
                <c:pt idx="0">
                  <c:v>Policies</c:v>
                </c:pt>
              </c:strCache>
            </c:strRef>
          </c:tx>
          <c:spPr>
            <a:solidFill>
              <a:srgbClr val="1E2761">
                <a:alpha val="90000"/>
              </a:srgbClr>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19EB-224C-BC89-CE7ED96405E3}"/>
              </c:ext>
            </c:extLst>
          </c:dPt>
          <c:dPt>
            <c:idx val="1"/>
            <c:invertIfNegative val="0"/>
            <c:bubble3D val="0"/>
            <c:spPr>
              <a:solidFill>
                <a:srgbClr val="E8A33D"/>
              </a:solidFill>
              <a:effectLst/>
            </c:spPr>
            <c:extLst>
              <c:ext xmlns:c16="http://schemas.microsoft.com/office/drawing/2014/chart" uri="{C3380CC4-5D6E-409C-BE32-E72D297353CC}">
                <c16:uniqueId val="{00000003-19EB-224C-BC89-CE7ED96405E3}"/>
              </c:ext>
            </c:extLst>
          </c:dPt>
          <c:dLbls>
            <c:numFmt formatCode="0.0" sourceLinked="0"/>
            <c:spPr>
              <a:noFill/>
              <a:ln>
                <a:noFill/>
              </a:ln>
              <a:effectLst/>
            </c:spPr>
            <c:txPr>
              <a:bodyPr/>
              <a:lstStyle/>
              <a:p>
                <a:pPr>
                  <a:defRPr sz="1200" b="0" i="0" u="none" strike="noStrike">
                    <a:solidFill>
                      <a:srgbClr val="1A1F3D"/>
                    </a:solidFill>
                    <a:latin typeface="Arial"/>
                  </a:defRPr>
                </a:pPr>
                <a:endParaRPr lang="sk-S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claim</c:v>
                </c:pt>
                <c:pt idx="1">
                  <c:v>Had a claim</c:v>
                </c:pt>
              </c:strCache>
            </c:strRef>
          </c:cat>
          <c:val>
            <c:numRef>
              <c:f>Sheet1!$B$2:$B$3</c:f>
              <c:numCache>
                <c:formatCode>General</c:formatCode>
                <c:ptCount val="2"/>
                <c:pt idx="0">
                  <c:v>87.7</c:v>
                </c:pt>
                <c:pt idx="1">
                  <c:v>12.3</c:v>
                </c:pt>
              </c:numCache>
            </c:numRef>
          </c:val>
          <c:extLst>
            <c:ext xmlns:c16="http://schemas.microsoft.com/office/drawing/2014/chart" uri="{C3380CC4-5D6E-409C-BE32-E72D297353CC}">
              <c16:uniqueId val="{00000004-19EB-224C-BC89-CE7ED96405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k-SK"/>
  <c:roundedCorners val="1"/>
  <c:style val="2"/>
  <c:chart>
    <c:autoTitleDeleted val="1"/>
    <c:plotArea>
      <c:layout/>
      <c:barChart>
        <c:barDir val="bar"/>
        <c:grouping val="clustered"/>
        <c:varyColors val="0"/>
        <c:ser>
          <c:idx val="0"/>
          <c:order val="0"/>
          <c:tx>
            <c:strRef>
              <c:f>Sheet1!$B$1</c:f>
              <c:strCache>
                <c:ptCount val="1"/>
                <c:pt idx="0">
                  <c:v>Permutation importance (AUC drop)</c:v>
                </c:pt>
              </c:strCache>
            </c:strRef>
          </c:tx>
          <c:spPr>
            <a:solidFill>
              <a:srgbClr val="CADCFC"/>
            </a:solidFill>
            <a:effectLst/>
          </c:spPr>
          <c:invertIfNegative val="0"/>
          <c:dPt>
            <c:idx val="0"/>
            <c:invertIfNegative val="0"/>
            <c:bubble3D val="0"/>
            <c:spPr>
              <a:solidFill>
                <a:srgbClr val="CADCFC"/>
              </a:solidFill>
              <a:effectLst/>
            </c:spPr>
            <c:extLst>
              <c:ext xmlns:c16="http://schemas.microsoft.com/office/drawing/2014/chart" uri="{C3380CC4-5D6E-409C-BE32-E72D297353CC}">
                <c16:uniqueId val="{00000001-5C67-FB4A-878E-9B92F610D073}"/>
              </c:ext>
            </c:extLst>
          </c:dPt>
          <c:dPt>
            <c:idx val="1"/>
            <c:invertIfNegative val="0"/>
            <c:bubble3D val="0"/>
            <c:spPr>
              <a:solidFill>
                <a:srgbClr val="CADCFC"/>
              </a:solidFill>
              <a:effectLst/>
            </c:spPr>
            <c:extLst>
              <c:ext xmlns:c16="http://schemas.microsoft.com/office/drawing/2014/chart" uri="{C3380CC4-5D6E-409C-BE32-E72D297353CC}">
                <c16:uniqueId val="{00000003-5C67-FB4A-878E-9B92F610D073}"/>
              </c:ext>
            </c:extLst>
          </c:dPt>
          <c:dPt>
            <c:idx val="2"/>
            <c:invertIfNegative val="0"/>
            <c:bubble3D val="0"/>
            <c:spPr>
              <a:solidFill>
                <a:srgbClr val="CADCFC"/>
              </a:solidFill>
              <a:effectLst/>
            </c:spPr>
            <c:extLst>
              <c:ext xmlns:c16="http://schemas.microsoft.com/office/drawing/2014/chart" uri="{C3380CC4-5D6E-409C-BE32-E72D297353CC}">
                <c16:uniqueId val="{00000005-5C67-FB4A-878E-9B92F610D073}"/>
              </c:ext>
            </c:extLst>
          </c:dPt>
          <c:dPt>
            <c:idx val="3"/>
            <c:invertIfNegative val="0"/>
            <c:bubble3D val="0"/>
            <c:spPr>
              <a:solidFill>
                <a:srgbClr val="CADCFC"/>
              </a:solidFill>
              <a:effectLst/>
            </c:spPr>
            <c:extLst>
              <c:ext xmlns:c16="http://schemas.microsoft.com/office/drawing/2014/chart" uri="{C3380CC4-5D6E-409C-BE32-E72D297353CC}">
                <c16:uniqueId val="{00000007-5C67-FB4A-878E-9B92F610D073}"/>
              </c:ext>
            </c:extLst>
          </c:dPt>
          <c:dPt>
            <c:idx val="4"/>
            <c:invertIfNegative val="0"/>
            <c:bubble3D val="0"/>
            <c:spPr>
              <a:solidFill>
                <a:srgbClr val="E8A33D"/>
              </a:solidFill>
              <a:effectLst/>
            </c:spPr>
            <c:extLst>
              <c:ext xmlns:c16="http://schemas.microsoft.com/office/drawing/2014/chart" uri="{C3380CC4-5D6E-409C-BE32-E72D297353CC}">
                <c16:uniqueId val="{00000009-5C67-FB4A-878E-9B92F610D073}"/>
              </c:ext>
            </c:extLst>
          </c:dPt>
          <c:dPt>
            <c:idx val="5"/>
            <c:invertIfNegative val="0"/>
            <c:bubble3D val="0"/>
            <c:spPr>
              <a:solidFill>
                <a:srgbClr val="1E2761"/>
              </a:solidFill>
              <a:effectLst/>
            </c:spPr>
            <c:extLst>
              <c:ext xmlns:c16="http://schemas.microsoft.com/office/drawing/2014/chart" uri="{C3380CC4-5D6E-409C-BE32-E72D297353CC}">
                <c16:uniqueId val="{0000000B-5C67-FB4A-878E-9B92F610D073}"/>
              </c:ext>
            </c:extLst>
          </c:dPt>
          <c:dLbls>
            <c:numFmt formatCode="0.000" sourceLinked="0"/>
            <c:spPr>
              <a:noFill/>
              <a:ln>
                <a:noFill/>
              </a:ln>
              <a:effectLst/>
            </c:spPr>
            <c:txPr>
              <a:bodyPr/>
              <a:lstStyle/>
              <a:p>
                <a:pPr>
                  <a:defRPr sz="1100" b="0" i="0" u="none" strike="noStrike">
                    <a:solidFill>
                      <a:srgbClr val="1A1F3D"/>
                    </a:solidFill>
                    <a:latin typeface="Arial"/>
                  </a:defRPr>
                </a:pPr>
                <a:endParaRPr lang="sk-S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late_payment_count</c:v>
                </c:pt>
                <c:pt idx="1">
                  <c:v>driver_count</c:v>
                </c:pt>
                <c:pt idx="2">
                  <c:v>vehicle_count</c:v>
                </c:pt>
                <c:pt idx="3">
                  <c:v>driver_per_vehicle</c:v>
                </c:pt>
                <c:pt idx="4">
                  <c:v>risk_score_external</c:v>
                </c:pt>
                <c:pt idx="5">
                  <c:v>coverage_type</c:v>
                </c:pt>
              </c:strCache>
            </c:strRef>
          </c:cat>
          <c:val>
            <c:numRef>
              <c:f>Sheet1!$B$2:$B$7</c:f>
              <c:numCache>
                <c:formatCode>General</c:formatCode>
                <c:ptCount val="6"/>
                <c:pt idx="0">
                  <c:v>8.8999999999999999E-3</c:v>
                </c:pt>
                <c:pt idx="1">
                  <c:v>9.4999999999999998E-3</c:v>
                </c:pt>
                <c:pt idx="2">
                  <c:v>1.3899999999999999E-2</c:v>
                </c:pt>
                <c:pt idx="3">
                  <c:v>2.06E-2</c:v>
                </c:pt>
                <c:pt idx="4">
                  <c:v>3.3099999999999997E-2</c:v>
                </c:pt>
                <c:pt idx="5">
                  <c:v>5.6300000000000003E-2</c:v>
                </c:pt>
              </c:numCache>
            </c:numRef>
          </c:val>
          <c:extLst>
            <c:ext xmlns:c16="http://schemas.microsoft.com/office/drawing/2014/chart" uri="{C3380CC4-5D6E-409C-BE32-E72D297353CC}">
              <c16:uniqueId val="{0000000C-5C67-FB4A-878E-9B92F610D07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F3D"/>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057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Thanks for the opportunity - quick overview: I'll walk through what I found in the data, what I changed and why, how I validated it, what's still left before production, what I learned, and how I used AI tools along the way. About 15-20 minutes, happy to take questions as we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APD vs AL, why risk scoring matters for underwriting profitability. Train has outcomes, score doesn't - that's what I'm predicting for. Note the prototype notebook I started from had a real leakage bug, which is where the EDA findings on the next few slides come 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EDA finding. 12.3% positive rate - imbalanced enough that accuracy is misleading. Severity is heavily skewed. This is why I framed the problem as classification with AUC/PR-AUC/Brier, not accuracy, and why I didn't try to predict the dollar loss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finding. The prototype used two of these leaky columns directly as features - that's the single biggest bug I fixed. And critically, checking 'is this column non-null in score.csv' isn't a safe test for whether it's OK to use - 10% of score rows have it populated anyway. Hard-coded ban list plus a schema assertion, not a heuristic.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category issues in business_type. Casing is a straightforward cleanup. Agriculture is rare and undocumented - only 8 rows, not enough to learn from, so it gets folded into Other. Rideshare is the more interesting production risk: it's completely unseen in training, so I catch it explicitly and log a warning rather than letting the encoder silently zero it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finding directly shaped the validation strategy - grouping by insured_id in cross-validation, and later splitting holdout results by 'seen vs new' insured so I'm not overstating how well the model would do on genuinely new customers.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 feature, I checked whether claim rate actually moves across buckets of it, not just what the raw distribution looks like. All three show a fairly monotonic increase from low to high bucket - reassuring that these aren't noise, and a sanity check the permutation importance results later confirm.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changes, but the leakage removal is by far the most important - the prototype used two post-outcome columns directly as features. Everything else here is about making the validation numbers trustworthy: if I don't fix the split and the grouping, a good-looking AUC doesn't mean much.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about what breaks in production that doesn't show up in a notebook: a feature quietly missing from new data, train and score being prepared slightly differently, no way to reload a model without retraining. The schema check specifically would have caught has_safety_program being absent from score.csv.</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angles, not one, because they answer different questions: can the model generalize to the future, and can it generalize to companies it hasn't priced before. I also reused the exact same grouped folds inside the calibration step - otherwise calibration could leak a company's info between its own folds.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LogisticRegression was selected on CV AUC and PR-AUC. After calibration, holdout AUC is 0.694 overall. I report seen-vs-new insured separately - the new-insured slice looks slightly better here but n=119 is small, so I read that as noise, not evidence the model generalizes better to new business.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via permutation importance on the holdout set - shuffle one feature, measure how much AUC drops. coverage_type dominates, which is a good reason to revisit the APD/AL pooling decision on the roadmap.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before I move into the roadmap. The output is one number per policy, but what actually matters is the methodology behind it - each of these five things is something the prototype notebook didn't have, and each is something a reviewer could ask me to defend in detail.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implemented - it's meant to show I understand the full ML lifecycle, not just the modeling part. The monitoring piece specifically would have caught the Rideshare and leakage-trap findings automatically instead of via manual EDA.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technical things this case study surfaced, not generic lessons. The class_weight asymmetry and the Brier-before-calibration point are the two I'd lead with if asked to pick one - they're the kind of subtle issue that's easy to miss even when the overall pipeline looks correct.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Straightforward disclosure. Used it heavily and I'm saying so directly - what matters for this conversation is that I can walk through and defend every part of it, which I'm happy to do in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Happy to go deeper on any slide - validation setup, the leakage trap, or the roadmap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jurajriedel/Riedel-Commercial-Auto-Risk-Scoring-Case-Study"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sk-SK"/>
          </a:p>
        </p:txBody>
      </p:sp>
      <p:sp>
        <p:nvSpPr>
          <p:cNvPr id="3" name="Shape 1"/>
          <p:cNvSpPr/>
          <p:nvPr/>
        </p:nvSpPr>
        <p:spPr>
          <a:xfrm>
            <a:off x="8961120" y="-2011680"/>
            <a:ext cx="5486400" cy="5486400"/>
          </a:xfrm>
          <a:prstGeom prst="ellipse">
            <a:avLst/>
          </a:prstGeom>
          <a:solidFill>
            <a:srgbClr val="141A45"/>
          </a:solidFill>
          <a:ln/>
        </p:spPr>
        <p:txBody>
          <a:bodyPr/>
          <a:lstStyle/>
          <a:p>
            <a:endParaRPr lang="sk-SK"/>
          </a:p>
        </p:txBody>
      </p:sp>
      <p:sp>
        <p:nvSpPr>
          <p:cNvPr id="4" name="Shape 2"/>
          <p:cNvSpPr/>
          <p:nvPr/>
        </p:nvSpPr>
        <p:spPr>
          <a:xfrm>
            <a:off x="10607040" y="4206240"/>
            <a:ext cx="3657600" cy="3657600"/>
          </a:xfrm>
          <a:prstGeom prst="ellipse">
            <a:avLst/>
          </a:prstGeom>
          <a:solidFill>
            <a:srgbClr val="141A45"/>
          </a:solidFill>
          <a:ln/>
        </p:spPr>
        <p:txBody>
          <a:bodyPr/>
          <a:lstStyle/>
          <a:p>
            <a:endParaRPr lang="sk-SK"/>
          </a:p>
        </p:txBody>
      </p:sp>
      <p:sp>
        <p:nvSpPr>
          <p:cNvPr id="5" name="Text 3"/>
          <p:cNvSpPr txBox="1"/>
          <p:nvPr/>
        </p:nvSpPr>
        <p:spPr>
          <a:xfrm>
            <a:off x="731520" y="1874520"/>
            <a:ext cx="9144000" cy="36576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ZNA Junior Data Scientist – Case Study</a:t>
            </a:r>
            <a:endParaRPr lang="en-US" sz="1300" dirty="0"/>
          </a:p>
        </p:txBody>
      </p:sp>
      <p:sp>
        <p:nvSpPr>
          <p:cNvPr id="6" name="Text 4"/>
          <p:cNvSpPr txBox="1"/>
          <p:nvPr/>
        </p:nvSpPr>
        <p:spPr>
          <a:xfrm>
            <a:off x="731520" y="2331720"/>
            <a:ext cx="10058400" cy="8229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Commercial Auto Insurance</a:t>
            </a:r>
            <a:endParaRPr lang="en-US" sz="4200" dirty="0"/>
          </a:p>
        </p:txBody>
      </p:sp>
      <p:sp>
        <p:nvSpPr>
          <p:cNvPr id="7" name="Text 5"/>
          <p:cNvSpPr txBox="1"/>
          <p:nvPr/>
        </p:nvSpPr>
        <p:spPr>
          <a:xfrm>
            <a:off x="731520" y="3063240"/>
            <a:ext cx="10058400" cy="822960"/>
          </a:xfrm>
          <a:prstGeom prst="rect">
            <a:avLst/>
          </a:prstGeom>
          <a:noFill/>
          <a:ln/>
        </p:spPr>
        <p:txBody>
          <a:bodyPr wrap="square" rtlCol="0" anchor="ctr"/>
          <a:lstStyle/>
          <a:p>
            <a:pPr marL="0" indent="0">
              <a:buNone/>
            </a:pPr>
            <a:r>
              <a:rPr lang="en-US" sz="4200" b="1" dirty="0">
                <a:solidFill>
                  <a:srgbClr val="CADCFC"/>
                </a:solidFill>
                <a:latin typeface="Cambria" pitchFamily="34" charset="0"/>
                <a:ea typeface="Cambria" pitchFamily="34" charset="-122"/>
                <a:cs typeface="Cambria" pitchFamily="34" charset="-120"/>
              </a:rPr>
              <a:t>Claim Risk Scoring</a:t>
            </a:r>
            <a:endParaRPr lang="en-US" sz="4200" dirty="0"/>
          </a:p>
        </p:txBody>
      </p:sp>
      <p:sp>
        <p:nvSpPr>
          <p:cNvPr id="8" name="Text 6"/>
          <p:cNvSpPr txBox="1"/>
          <p:nvPr/>
        </p:nvSpPr>
        <p:spPr>
          <a:xfrm>
            <a:off x="731520" y="3977640"/>
            <a:ext cx="8686800" cy="548640"/>
          </a:xfrm>
          <a:prstGeom prst="rect">
            <a:avLst/>
          </a:prstGeom>
          <a:noFill/>
          <a:ln/>
        </p:spPr>
        <p:txBody>
          <a:bodyPr wrap="square" rtlCol="0" anchor="ctr"/>
          <a:lstStyle/>
          <a:p>
            <a:pPr marL="0" indent="0">
              <a:buNone/>
            </a:pPr>
            <a:r>
              <a:rPr lang="en-US" sz="1600" i="1" dirty="0">
                <a:solidFill>
                  <a:srgbClr val="EEF3FD"/>
                </a:solidFill>
                <a:latin typeface="Calibri" pitchFamily="34" charset="0"/>
                <a:ea typeface="Calibri" pitchFamily="34" charset="-122"/>
                <a:cs typeface="Calibri" pitchFamily="34" charset="-120"/>
              </a:rPr>
              <a:t>Predicting which policies are likely to file a claim, from EDA to a production-minded scoring pipeline</a:t>
            </a:r>
            <a:endParaRPr lang="en-US" sz="1600" dirty="0"/>
          </a:p>
        </p:txBody>
      </p:sp>
      <p:sp>
        <p:nvSpPr>
          <p:cNvPr id="9" name="Shape 7"/>
          <p:cNvSpPr/>
          <p:nvPr/>
        </p:nvSpPr>
        <p:spPr>
          <a:xfrm>
            <a:off x="731520" y="4892040"/>
            <a:ext cx="2011680" cy="0"/>
          </a:xfrm>
          <a:prstGeom prst="line">
            <a:avLst/>
          </a:prstGeom>
          <a:noFill/>
          <a:ln w="25400">
            <a:solidFill>
              <a:srgbClr val="E8A33D"/>
            </a:solidFill>
            <a:prstDash val="solid"/>
          </a:ln>
        </p:spPr>
        <p:txBody>
          <a:bodyPr/>
          <a:lstStyle/>
          <a:p>
            <a:endParaRPr lang="sk-SK"/>
          </a:p>
        </p:txBody>
      </p:sp>
      <p:sp>
        <p:nvSpPr>
          <p:cNvPr id="10" name="Text 8"/>
          <p:cNvSpPr txBox="1"/>
          <p:nvPr/>
        </p:nvSpPr>
        <p:spPr>
          <a:xfrm>
            <a:off x="731520" y="507492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Juraj Riedel</a:t>
            </a:r>
            <a:endParaRPr lang="en-US" sz="1600" dirty="0"/>
          </a:p>
        </p:txBody>
      </p:sp>
      <p:sp>
        <p:nvSpPr>
          <p:cNvPr id="12" name="Text 9">
            <a:extLst>
              <a:ext uri="{FF2B5EF4-FFF2-40B4-BE49-F238E27FC236}">
                <a16:creationId xmlns:a16="http://schemas.microsoft.com/office/drawing/2014/main" id="{4DAB85A6-5495-6A5F-4B57-21B9323A80EE}"/>
              </a:ext>
            </a:extLst>
          </p:cNvPr>
          <p:cNvSpPr txBox="1"/>
          <p:nvPr/>
        </p:nvSpPr>
        <p:spPr>
          <a:xfrm>
            <a:off x="731520" y="5440680"/>
            <a:ext cx="5486400" cy="365760"/>
          </a:xfrm>
          <a:prstGeom prst="rect">
            <a:avLst/>
          </a:prstGeom>
          <a:noFill/>
          <a:ln/>
        </p:spPr>
        <p:txBody>
          <a:bodyPr wrap="square" rtlCol="0" anchor="ctr"/>
          <a:lstStyle/>
          <a:p>
            <a:pPr marL="0" indent="0">
              <a:buNone/>
            </a:pPr>
            <a:r>
              <a:rPr lang="en-US" sz="1300" dirty="0">
                <a:solidFill>
                  <a:srgbClr val="EEF3FD"/>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I'll cover</a:t>
            </a:r>
            <a:endParaRPr lang="en-US" sz="3200" dirty="0"/>
          </a:p>
        </p:txBody>
      </p:sp>
      <p:sp>
        <p:nvSpPr>
          <p:cNvPr id="4" name="Shape 2"/>
          <p:cNvSpPr/>
          <p:nvPr/>
        </p:nvSpPr>
        <p:spPr>
          <a:xfrm>
            <a:off x="548640" y="169164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777240" y="185623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600200" y="187452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Findings</a:t>
            </a:r>
            <a:endParaRPr lang="en-US" sz="1600" dirty="0"/>
          </a:p>
        </p:txBody>
      </p:sp>
      <p:sp>
        <p:nvSpPr>
          <p:cNvPr id="7" name="Text 5"/>
          <p:cNvSpPr txBox="1"/>
          <p:nvPr/>
        </p:nvSpPr>
        <p:spPr>
          <a:xfrm>
            <a:off x="1600200" y="225856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 the data looks like, and what surprised me</a:t>
            </a:r>
            <a:endParaRPr lang="en-US" sz="1200" dirty="0"/>
          </a:p>
        </p:txBody>
      </p:sp>
      <p:sp>
        <p:nvSpPr>
          <p:cNvPr id="8" name="Shape 6"/>
          <p:cNvSpPr/>
          <p:nvPr/>
        </p:nvSpPr>
        <p:spPr>
          <a:xfrm>
            <a:off x="6172200" y="169164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9" name="Text 7"/>
          <p:cNvSpPr txBox="1"/>
          <p:nvPr/>
        </p:nvSpPr>
        <p:spPr>
          <a:xfrm>
            <a:off x="6400800" y="185623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7223760" y="187452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Improvements</a:t>
            </a:r>
            <a:endParaRPr lang="en-US" sz="1600" dirty="0"/>
          </a:p>
        </p:txBody>
      </p:sp>
      <p:sp>
        <p:nvSpPr>
          <p:cNvPr id="11" name="Text 9"/>
          <p:cNvSpPr txBox="1"/>
          <p:nvPr/>
        </p:nvSpPr>
        <p:spPr>
          <a:xfrm>
            <a:off x="7223760" y="225856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Modeling methodology + production readiness changes</a:t>
            </a:r>
            <a:endParaRPr lang="en-US" sz="1200" dirty="0"/>
          </a:p>
        </p:txBody>
      </p:sp>
      <p:sp>
        <p:nvSpPr>
          <p:cNvPr id="12" name="Shape 10"/>
          <p:cNvSpPr/>
          <p:nvPr/>
        </p:nvSpPr>
        <p:spPr>
          <a:xfrm>
            <a:off x="548640" y="324612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3" name="Text 11"/>
          <p:cNvSpPr txBox="1"/>
          <p:nvPr/>
        </p:nvSpPr>
        <p:spPr>
          <a:xfrm>
            <a:off x="777240" y="341071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600200" y="342900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Validation &amp; results</a:t>
            </a:r>
            <a:endParaRPr lang="en-US" sz="1600" dirty="0"/>
          </a:p>
        </p:txBody>
      </p:sp>
      <p:sp>
        <p:nvSpPr>
          <p:cNvPr id="15" name="Text 13"/>
          <p:cNvSpPr txBox="1"/>
          <p:nvPr/>
        </p:nvSpPr>
        <p:spPr>
          <a:xfrm>
            <a:off x="1600200" y="381304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How I tested it, and how well it performs</a:t>
            </a:r>
            <a:endParaRPr lang="en-US" sz="1200" dirty="0"/>
          </a:p>
        </p:txBody>
      </p:sp>
      <p:sp>
        <p:nvSpPr>
          <p:cNvPr id="16" name="Shape 14"/>
          <p:cNvSpPr/>
          <p:nvPr/>
        </p:nvSpPr>
        <p:spPr>
          <a:xfrm>
            <a:off x="6172200" y="324612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7" name="Text 15"/>
          <p:cNvSpPr txBox="1"/>
          <p:nvPr/>
        </p:nvSpPr>
        <p:spPr>
          <a:xfrm>
            <a:off x="6400800" y="341071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223760" y="342900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Roadmap</a:t>
            </a:r>
            <a:endParaRPr lang="en-US" sz="1600" dirty="0"/>
          </a:p>
        </p:txBody>
      </p:sp>
      <p:sp>
        <p:nvSpPr>
          <p:cNvPr id="19" name="Text 17"/>
          <p:cNvSpPr txBox="1"/>
          <p:nvPr/>
        </p:nvSpPr>
        <p:spPr>
          <a:xfrm>
            <a:off x="7223760" y="381304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What's still needed before this goes to production</a:t>
            </a:r>
            <a:endParaRPr lang="en-US" sz="1200" dirty="0"/>
          </a:p>
        </p:txBody>
      </p:sp>
      <p:sp>
        <p:nvSpPr>
          <p:cNvPr id="20" name="Shape 18"/>
          <p:cNvSpPr/>
          <p:nvPr/>
        </p:nvSpPr>
        <p:spPr>
          <a:xfrm>
            <a:off x="548640" y="480060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1" name="Text 19"/>
          <p:cNvSpPr txBox="1"/>
          <p:nvPr/>
        </p:nvSpPr>
        <p:spPr>
          <a:xfrm>
            <a:off x="777240" y="496519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1600200" y="498348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What I learned</a:t>
            </a:r>
            <a:endParaRPr lang="en-US" sz="1600" dirty="0"/>
          </a:p>
        </p:txBody>
      </p:sp>
      <p:sp>
        <p:nvSpPr>
          <p:cNvPr id="23" name="Text 21"/>
          <p:cNvSpPr txBox="1"/>
          <p:nvPr/>
        </p:nvSpPr>
        <p:spPr>
          <a:xfrm>
            <a:off x="1600200" y="536752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New concepts this case study pushed me to use properly</a:t>
            </a:r>
            <a:endParaRPr lang="en-US" sz="1200" dirty="0"/>
          </a:p>
        </p:txBody>
      </p:sp>
      <p:sp>
        <p:nvSpPr>
          <p:cNvPr id="24" name="Shape 22"/>
          <p:cNvSpPr/>
          <p:nvPr/>
        </p:nvSpPr>
        <p:spPr>
          <a:xfrm>
            <a:off x="6172200" y="480060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Text 23"/>
          <p:cNvSpPr txBox="1"/>
          <p:nvPr/>
        </p:nvSpPr>
        <p:spPr>
          <a:xfrm>
            <a:off x="6400800" y="496519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223760" y="498348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AI tools</a:t>
            </a:r>
            <a:endParaRPr lang="en-US" sz="1600" dirty="0"/>
          </a:p>
        </p:txBody>
      </p:sp>
      <p:sp>
        <p:nvSpPr>
          <p:cNvPr id="27" name="Text 25"/>
          <p:cNvSpPr txBox="1"/>
          <p:nvPr/>
        </p:nvSpPr>
        <p:spPr>
          <a:xfrm>
            <a:off x="7223760" y="536752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 I used, and how I checked it before trusting it</a:t>
            </a:r>
            <a:endParaRPr lang="en-US" sz="1200" dirty="0"/>
          </a:p>
        </p:txBody>
      </p:sp>
      <p:sp>
        <p:nvSpPr>
          <p:cNvPr id="28" name="Text 2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BACKGROUND</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Scoring policies for claim risk</a:t>
            </a:r>
            <a:endParaRPr lang="en-US" sz="3200" dirty="0"/>
          </a:p>
        </p:txBody>
      </p:sp>
      <p:sp>
        <p:nvSpPr>
          <p:cNvPr id="4" name="Text 2"/>
          <p:cNvSpPr txBox="1"/>
          <p:nvPr/>
        </p:nvSpPr>
        <p:spPr>
          <a:xfrm>
            <a:off x="548640" y="1783080"/>
            <a:ext cx="6309360" cy="384048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Commercial auto insurance covers business vehicle policies - Auto Physical Damage (APD) and Auto Liability (AL); an insured can carry either or both.</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Goal: given a policy's underwriting information, estimate the probability it will have at least one claim during the period.</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Started from a prototype notebook with a significant data leakage issue - reviewed it, then rebuilt the pipeline.</a:t>
            </a:r>
            <a:endParaRPr lang="en-US" sz="1500" dirty="0"/>
          </a:p>
        </p:txBody>
      </p:sp>
      <p:sp>
        <p:nvSpPr>
          <p:cNvPr id="5" name="Shape 3"/>
          <p:cNvSpPr/>
          <p:nvPr/>
        </p:nvSpPr>
        <p:spPr>
          <a:xfrm>
            <a:off x="7223760" y="1737360"/>
            <a:ext cx="438912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4"/>
          <p:cNvSpPr txBox="1"/>
          <p:nvPr/>
        </p:nvSpPr>
        <p:spPr>
          <a:xfrm>
            <a:off x="7543800" y="1920240"/>
            <a:ext cx="3657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THE DATA</a:t>
            </a:r>
            <a:endParaRPr lang="en-US" sz="1200" dirty="0"/>
          </a:p>
        </p:txBody>
      </p:sp>
      <p:sp>
        <p:nvSpPr>
          <p:cNvPr id="7" name="Text 5"/>
          <p:cNvSpPr txBox="1"/>
          <p:nvPr/>
        </p:nvSpPr>
        <p:spPr>
          <a:xfrm>
            <a:off x="7543800" y="237744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15,075</a:t>
            </a:r>
            <a:endParaRPr lang="en-US" sz="3000" dirty="0"/>
          </a:p>
        </p:txBody>
      </p:sp>
      <p:sp>
        <p:nvSpPr>
          <p:cNvPr id="8" name="Text 6"/>
          <p:cNvSpPr txBox="1"/>
          <p:nvPr/>
        </p:nvSpPr>
        <p:spPr>
          <a:xfrm>
            <a:off x="7543800" y="292608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policies 2020-2022 (train, with outcomes)</a:t>
            </a:r>
            <a:endParaRPr lang="en-US" sz="1200" dirty="0"/>
          </a:p>
        </p:txBody>
      </p:sp>
      <p:sp>
        <p:nvSpPr>
          <p:cNvPr id="9" name="Text 7"/>
          <p:cNvSpPr txBox="1"/>
          <p:nvPr/>
        </p:nvSpPr>
        <p:spPr>
          <a:xfrm>
            <a:off x="7543800" y="342900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3,000</a:t>
            </a:r>
            <a:endParaRPr lang="en-US" sz="3000" dirty="0"/>
          </a:p>
        </p:txBody>
      </p:sp>
      <p:sp>
        <p:nvSpPr>
          <p:cNvPr id="10" name="Text 8"/>
          <p:cNvSpPr txBox="1"/>
          <p:nvPr/>
        </p:nvSpPr>
        <p:spPr>
          <a:xfrm>
            <a:off x="7543800" y="397764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policies 2023-2024 (score, no outcomes)</a:t>
            </a:r>
            <a:endParaRPr lang="en-US" sz="1200" dirty="0"/>
          </a:p>
        </p:txBody>
      </p:sp>
      <p:sp>
        <p:nvSpPr>
          <p:cNvPr id="11" name="Text 9"/>
          <p:cNvSpPr txBox="1"/>
          <p:nvPr/>
        </p:nvSpPr>
        <p:spPr>
          <a:xfrm>
            <a:off x="7543800" y="448056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12.3%</a:t>
            </a:r>
            <a:endParaRPr lang="en-US" sz="3000" dirty="0"/>
          </a:p>
        </p:txBody>
      </p:sp>
      <p:sp>
        <p:nvSpPr>
          <p:cNvPr id="12" name="Text 10"/>
          <p:cNvSpPr txBox="1"/>
          <p:nvPr/>
        </p:nvSpPr>
        <p:spPr>
          <a:xfrm>
            <a:off x="7543800" y="502920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of training policies had a claim</a:t>
            </a:r>
            <a:endParaRPr lang="en-US" sz="1200" dirty="0"/>
          </a:p>
        </p:txBody>
      </p:sp>
      <p:sp>
        <p:nvSpPr>
          <p:cNvPr id="13" name="Text 11"/>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1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target is imbalanced, and severity is skewed</a:t>
            </a:r>
            <a:endParaRPr lang="en-US" sz="3200" dirty="0"/>
          </a:p>
        </p:txBody>
      </p:sp>
      <p:graphicFrame>
        <p:nvGraphicFramePr>
          <p:cNvPr id="4" name="Chart 0"/>
          <p:cNvGraphicFramePr/>
          <p:nvPr/>
        </p:nvGraphicFramePr>
        <p:xfrm>
          <a:off x="548640" y="1737360"/>
          <a:ext cx="52120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1737360"/>
            <a:ext cx="548640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3"/>
          <p:cNvSpPr txBox="1"/>
          <p:nvPr/>
        </p:nvSpPr>
        <p:spPr>
          <a:xfrm>
            <a:off x="6446520" y="1965960"/>
            <a:ext cx="4846320" cy="320040"/>
          </a:xfrm>
          <a:prstGeom prst="rect">
            <a:avLst/>
          </a:prstGeom>
          <a:noFill/>
          <a:ln/>
        </p:spPr>
        <p:txBody>
          <a:bodyPr wrap="square"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WHAT THIS MEANS FOR MODELING</a:t>
            </a:r>
            <a:endParaRPr lang="en-US" sz="1200" dirty="0"/>
          </a:p>
        </p:txBody>
      </p:sp>
      <p:sp>
        <p:nvSpPr>
          <p:cNvPr id="7" name="Text 4"/>
          <p:cNvSpPr txBox="1"/>
          <p:nvPr/>
        </p:nvSpPr>
        <p:spPr>
          <a:xfrm>
            <a:off x="6446520" y="2423160"/>
            <a:ext cx="4892040" cy="3108960"/>
          </a:xfrm>
          <a:prstGeom prst="rect">
            <a:avLst/>
          </a:prstGeom>
          <a:noFill/>
          <a:ln/>
        </p:spPr>
        <p:txBody>
          <a:bodyPr wrap="square" rtlCol="0" anchor="t"/>
          <a:lstStyle/>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Only ~12% positive rate - predicting "no claim" for everyone already scores 88% accuracy, so accuracy is the wrong metric.</a:t>
            </a:r>
            <a:endParaRPr lang="en-US" sz="1300" dirty="0"/>
          </a:p>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Among policies that did claim, total loss amount is strongly right-skewed - a few large losses dominate the mean.</a:t>
            </a:r>
            <a:endParaRPr lang="en-US" sz="1300" dirty="0"/>
          </a:p>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Defined this as a binary classification problem (probability of &gt;=1 claim), focusing on whether a claim occurs rather than predicting the claim amount — there are not enough claims to model dollar amounts reliably.</a:t>
            </a:r>
          </a:p>
        </p:txBody>
      </p:sp>
      <p:sp>
        <p:nvSpPr>
          <p:cNvPr id="8" name="Text 5"/>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2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Four columns look useful at first, but would cause data leakage</a:t>
            </a:r>
            <a:endParaRPr lang="en-US" sz="2800" dirty="0"/>
          </a:p>
        </p:txBody>
      </p:sp>
      <p:sp>
        <p:nvSpPr>
          <p:cNvPr id="4" name="Text 2"/>
          <p:cNvSpPr txBox="1"/>
          <p:nvPr/>
        </p:nvSpPr>
        <p:spPr>
          <a:xfrm>
            <a:off x="548640" y="1783080"/>
            <a:ext cx="6492240" cy="393192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Data dictionary flags 4 columns as only known after a claim is reported/resolved: first_claim_reported_date, claim_paid_amount_current_period, claim_status_current_period, days_to_first_claim_report.</a:t>
            </a:r>
            <a:endParaRPr lang="en-US" sz="1500" dirty="0"/>
          </a:p>
          <a:p>
            <a:pPr marL="342900" indent="-342900">
              <a:spcAft>
                <a:spcPts val="1600"/>
              </a:spcAft>
              <a:buSzPct val="100000"/>
              <a:buFontTx/>
              <a:buChar char="•"/>
            </a:pPr>
            <a:r>
              <a:rPr lang="en-US" sz="1500" dirty="0">
                <a:solidFill>
                  <a:srgbClr val="1A1F3D"/>
                </a:solidFill>
                <a:latin typeface="Calibri" pitchFamily="34" charset="0"/>
                <a:ea typeface="Calibri" pitchFamily="34" charset="-122"/>
                <a:cs typeface="Calibri" pitchFamily="34" charset="-120"/>
              </a:rPr>
              <a:t>In </a:t>
            </a:r>
            <a:r>
              <a:rPr lang="en-US" sz="1500" dirty="0" err="1">
                <a:solidFill>
                  <a:srgbClr val="1A1F3D"/>
                </a:solidFill>
                <a:latin typeface="Calibri" pitchFamily="34" charset="0"/>
                <a:ea typeface="Calibri" pitchFamily="34" charset="-122"/>
                <a:cs typeface="Calibri" pitchFamily="34" charset="-120"/>
              </a:rPr>
              <a:t>train.csv</a:t>
            </a:r>
            <a:r>
              <a:rPr lang="en-US" sz="1500" dirty="0">
                <a:solidFill>
                  <a:srgbClr val="1A1F3D"/>
                </a:solidFill>
                <a:latin typeface="Calibri" pitchFamily="34" charset="0"/>
                <a:ea typeface="Calibri" pitchFamily="34" charset="-122"/>
                <a:cs typeface="Calibri" pitchFamily="34" charset="-120"/>
              </a:rPr>
              <a:t>, these fields are filled in when a claim occurs, so using them as model inputs would cause target leakage.</a:t>
            </a:r>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In </a:t>
            </a:r>
            <a:r>
              <a:rPr lang="en-US" sz="1500" dirty="0" err="1">
                <a:solidFill>
                  <a:srgbClr val="1A1F3D"/>
                </a:solidFill>
                <a:latin typeface="Calibri" pitchFamily="34" charset="0"/>
                <a:ea typeface="Calibri" pitchFamily="34" charset="-122"/>
                <a:cs typeface="Calibri" pitchFamily="34" charset="-120"/>
              </a:rPr>
              <a:t>score.csv</a:t>
            </a:r>
            <a:r>
              <a:rPr lang="en-US" sz="1500" dirty="0">
                <a:solidFill>
                  <a:srgbClr val="1A1F3D"/>
                </a:solidFill>
                <a:latin typeface="Calibri" pitchFamily="34" charset="0"/>
                <a:ea typeface="Calibri" pitchFamily="34" charset="-122"/>
                <a:cs typeface="Calibri" pitchFamily="34" charset="-120"/>
              </a:rPr>
              <a:t>, 300 out of 3,000 rows have these fields filled in, even though they should not contain any outcome information.</a:t>
            </a:r>
            <a:endParaRPr lang="en-US" sz="1500" dirty="0"/>
          </a:p>
        </p:txBody>
      </p:sp>
      <p:sp>
        <p:nvSpPr>
          <p:cNvPr id="5" name="Shape 3"/>
          <p:cNvSpPr/>
          <p:nvPr/>
        </p:nvSpPr>
        <p:spPr>
          <a:xfrm>
            <a:off x="7863840" y="2103120"/>
            <a:ext cx="3291840" cy="3291840"/>
          </a:xfrm>
          <a:prstGeom prst="ellipse">
            <a:avLst/>
          </a:prstGeom>
          <a:solidFill>
            <a:srgbClr val="1E2761"/>
          </a:solidFill>
          <a:ln/>
        </p:spPr>
        <p:txBody>
          <a:bodyPr/>
          <a:lstStyle/>
          <a:p>
            <a:endParaRPr lang="sk-SK"/>
          </a:p>
        </p:txBody>
      </p:sp>
      <p:sp>
        <p:nvSpPr>
          <p:cNvPr id="6" name="Text 4"/>
          <p:cNvSpPr txBox="1"/>
          <p:nvPr/>
        </p:nvSpPr>
        <p:spPr>
          <a:xfrm>
            <a:off x="7863840" y="2695651"/>
            <a:ext cx="3291840" cy="1481328"/>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300 / 3,000</a:t>
            </a:r>
            <a:endParaRPr lang="en-US" sz="3000" dirty="0"/>
          </a:p>
        </p:txBody>
      </p:sp>
      <p:sp>
        <p:nvSpPr>
          <p:cNvPr id="7" name="Text 5"/>
          <p:cNvSpPr txBox="1"/>
          <p:nvPr/>
        </p:nvSpPr>
        <p:spPr>
          <a:xfrm>
            <a:off x="7589520" y="4144061"/>
            <a:ext cx="3840480" cy="457200"/>
          </a:xfrm>
          <a:prstGeom prst="rect">
            <a:avLst/>
          </a:prstGeom>
          <a:noFill/>
          <a:ln/>
        </p:spPr>
        <p:txBody>
          <a:bodyPr wrap="square" rtlCol="0" anchor="t"/>
          <a:lstStyle/>
          <a:p>
            <a:pPr marL="0" indent="0" algn="ctr">
              <a:buNone/>
            </a:pPr>
            <a:r>
              <a:rPr lang="en-US" sz="1100" dirty="0">
                <a:solidFill>
                  <a:srgbClr val="EEF3FD"/>
                </a:solidFill>
                <a:latin typeface="Calibri" pitchFamily="34" charset="0"/>
                <a:ea typeface="Calibri" pitchFamily="34" charset="-122"/>
                <a:cs typeface="Calibri" pitchFamily="34" charset="-120"/>
              </a:rPr>
              <a:t>score.csv rows with</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"post-outcome" fields</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filled in anyway</a:t>
            </a:r>
            <a:endParaRPr lang="en-US" sz="1100" dirty="0"/>
          </a:p>
        </p:txBody>
      </p:sp>
      <p:sp>
        <p:nvSpPr>
          <p:cNvPr id="9" name="Text 7"/>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3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Three issues with business_type</a:t>
            </a:r>
            <a:endParaRPr lang="en-US" sz="3200" dirty="0"/>
          </a:p>
        </p:txBody>
      </p:sp>
      <p:sp>
        <p:nvSpPr>
          <p:cNvPr id="4" name="Shape 2"/>
          <p:cNvSpPr/>
          <p:nvPr/>
        </p:nvSpPr>
        <p:spPr>
          <a:xfrm>
            <a:off x="548640" y="1783080"/>
            <a:ext cx="3520440" cy="4206240"/>
          </a:xfrm>
          <a:prstGeom prst="roundRect">
            <a:avLst>
              <a:gd name="adj" fmla="val 207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777240" y="2011680"/>
            <a:ext cx="3063240" cy="5486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INCONSISTENT CASING</a:t>
            </a:r>
            <a:endParaRPr lang="en-US" sz="1250" dirty="0"/>
          </a:p>
        </p:txBody>
      </p:sp>
      <p:sp>
        <p:nvSpPr>
          <p:cNvPr id="6" name="Text 4"/>
          <p:cNvSpPr txBox="1"/>
          <p:nvPr/>
        </p:nvSpPr>
        <p:spPr>
          <a:xfrm>
            <a:off x="777240" y="2560320"/>
            <a:ext cx="3063240" cy="1737360"/>
          </a:xfrm>
          <a:prstGeom prst="rect">
            <a:avLst/>
          </a:prstGeom>
          <a:noFill/>
          <a:ln/>
        </p:spPr>
        <p:txBody>
          <a:bodyPr wrap="square" rtlCol="0" anchor="ctr"/>
          <a:lstStyle/>
          <a:p>
            <a:pPr marL="0" indent="0">
              <a:buNone/>
            </a:pPr>
            <a:r>
              <a:rPr lang="en-US" sz="1200" dirty="0">
                <a:solidFill>
                  <a:srgbClr val="1A1F3D"/>
                </a:solidFill>
                <a:latin typeface="Calibri" pitchFamily="34" charset="0"/>
                <a:ea typeface="Calibri" pitchFamily="34" charset="-122"/>
                <a:cs typeface="Calibri" pitchFamily="34" charset="-120"/>
              </a:rPr>
              <a:t>"Trucking" / "trucking" / "TRUCKING" all mean the same thing, but encoder treats them as different categories.</a:t>
            </a:r>
            <a:endParaRPr lang="en-US" sz="1200" dirty="0"/>
          </a:p>
        </p:txBody>
      </p:sp>
      <p:sp>
        <p:nvSpPr>
          <p:cNvPr id="7" name="Text 5"/>
          <p:cNvSpPr txBox="1"/>
          <p:nvPr/>
        </p:nvSpPr>
        <p:spPr>
          <a:xfrm>
            <a:off x="777240" y="5074920"/>
            <a:ext cx="3063240" cy="8229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Fix: normalize case and whitespace before encoding.</a:t>
            </a:r>
            <a:endParaRPr lang="en-US" sz="1100" dirty="0"/>
          </a:p>
        </p:txBody>
      </p:sp>
      <p:sp>
        <p:nvSpPr>
          <p:cNvPr id="8" name="Shape 6"/>
          <p:cNvSpPr/>
          <p:nvPr/>
        </p:nvSpPr>
        <p:spPr>
          <a:xfrm>
            <a:off x="4343400" y="1783080"/>
            <a:ext cx="3520440" cy="4206240"/>
          </a:xfrm>
          <a:prstGeom prst="roundRect">
            <a:avLst>
              <a:gd name="adj" fmla="val 207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9" name="Text 7"/>
          <p:cNvSpPr txBox="1"/>
          <p:nvPr/>
        </p:nvSpPr>
        <p:spPr>
          <a:xfrm>
            <a:off x="4572000" y="2011680"/>
            <a:ext cx="3063240" cy="5486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 RARE, UNDOCUMENTED CATEGORY</a:t>
            </a:r>
            <a:endParaRPr lang="en-US" sz="1250" dirty="0"/>
          </a:p>
        </p:txBody>
      </p:sp>
      <p:sp>
        <p:nvSpPr>
          <p:cNvPr id="10" name="Text 8"/>
          <p:cNvSpPr txBox="1"/>
          <p:nvPr/>
        </p:nvSpPr>
        <p:spPr>
          <a:xfrm>
            <a:off x="4572000" y="2560320"/>
            <a:ext cx="3063240" cy="50292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"Agriculture"</a:t>
            </a:r>
            <a:endParaRPr lang="en-US" sz="2200" dirty="0"/>
          </a:p>
        </p:txBody>
      </p:sp>
      <p:sp>
        <p:nvSpPr>
          <p:cNvPr id="11" name="Text 9"/>
          <p:cNvSpPr txBox="1"/>
          <p:nvPr/>
        </p:nvSpPr>
        <p:spPr>
          <a:xfrm>
            <a:off x="4572000" y="3154680"/>
            <a:ext cx="3063240" cy="1554480"/>
          </a:xfrm>
          <a:prstGeom prst="rect">
            <a:avLst/>
          </a:prstGeom>
          <a:noFill/>
          <a:ln/>
        </p:spPr>
        <p:txBody>
          <a:bodyPr wrap="square" rtlCol="0" anchor="ctr"/>
          <a:lstStyle/>
          <a:p>
            <a:pPr marL="0" indent="0">
              <a:buNone/>
            </a:pPr>
            <a:r>
              <a:rPr lang="en-US" sz="1200" dirty="0">
                <a:solidFill>
                  <a:srgbClr val="1A1F3D"/>
                </a:solidFill>
                <a:latin typeface="Calibri" pitchFamily="34" charset="0"/>
                <a:ea typeface="Calibri" pitchFamily="34" charset="-122"/>
                <a:cs typeface="Calibri" pitchFamily="34" charset="-120"/>
              </a:rPr>
              <a:t>isn't even in the data dictionary and shows up in only 8 of 15,075 train.csv rows - too few to learn anything reliable from.</a:t>
            </a:r>
            <a:endParaRPr lang="en-US" sz="1200" dirty="0"/>
          </a:p>
        </p:txBody>
      </p:sp>
      <p:sp>
        <p:nvSpPr>
          <p:cNvPr id="12" name="Text 10"/>
          <p:cNvSpPr txBox="1"/>
          <p:nvPr/>
        </p:nvSpPr>
        <p:spPr>
          <a:xfrm>
            <a:off x="4572000" y="5074920"/>
            <a:ext cx="3063240" cy="8229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Fix: group into "Other" rather than risk overfitting to 8 rows.</a:t>
            </a:r>
            <a:endParaRPr lang="en-US" sz="1100" dirty="0"/>
          </a:p>
        </p:txBody>
      </p:sp>
      <p:sp>
        <p:nvSpPr>
          <p:cNvPr id="13" name="Shape 11"/>
          <p:cNvSpPr/>
          <p:nvPr/>
        </p:nvSpPr>
        <p:spPr>
          <a:xfrm>
            <a:off x="8138160" y="1783080"/>
            <a:ext cx="3520440" cy="4206240"/>
          </a:xfrm>
          <a:prstGeom prst="roundRect">
            <a:avLst>
              <a:gd name="adj" fmla="val 2078"/>
            </a:avLst>
          </a:prstGeom>
          <a:solidFill>
            <a:srgbClr val="1E2761"/>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4" name="Text 12"/>
          <p:cNvSpPr txBox="1"/>
          <p:nvPr/>
        </p:nvSpPr>
        <p:spPr>
          <a:xfrm>
            <a:off x="8366760" y="2011680"/>
            <a:ext cx="3063240" cy="548640"/>
          </a:xfrm>
          <a:prstGeom prst="rect">
            <a:avLst/>
          </a:prstGeom>
          <a:noFill/>
          <a:ln/>
        </p:spPr>
        <p:txBody>
          <a:bodyPr wrap="square"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AN UNSEEN CATEGORY</a:t>
            </a:r>
            <a:endParaRPr lang="en-US" sz="1250" dirty="0"/>
          </a:p>
        </p:txBody>
      </p:sp>
      <p:sp>
        <p:nvSpPr>
          <p:cNvPr id="15" name="Text 13"/>
          <p:cNvSpPr txBox="1"/>
          <p:nvPr/>
        </p:nvSpPr>
        <p:spPr>
          <a:xfrm>
            <a:off x="8366760" y="2560320"/>
            <a:ext cx="3063240" cy="50292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"Rideshare"</a:t>
            </a:r>
            <a:endParaRPr lang="en-US" sz="2200" dirty="0"/>
          </a:p>
        </p:txBody>
      </p:sp>
      <p:sp>
        <p:nvSpPr>
          <p:cNvPr id="16" name="Text 14"/>
          <p:cNvSpPr txBox="1"/>
          <p:nvPr/>
        </p:nvSpPr>
        <p:spPr>
          <a:xfrm>
            <a:off x="8366760" y="3154680"/>
            <a:ext cx="3063240" cy="1554480"/>
          </a:xfrm>
          <a:prstGeom prst="rect">
            <a:avLst/>
          </a:prstGeom>
          <a:noFill/>
          <a:ln/>
        </p:spPr>
        <p:txBody>
          <a:bodyPr wrap="square" rtlCol="0" anchor="ctr"/>
          <a:lstStyle/>
          <a:p>
            <a:pPr marL="0" indent="0">
              <a:buNone/>
            </a:pPr>
            <a:r>
              <a:rPr lang="en-US" sz="1200" dirty="0">
                <a:solidFill>
                  <a:srgbClr val="EEF3FD"/>
                </a:solidFill>
                <a:latin typeface="Calibri" pitchFamily="34" charset="0"/>
                <a:ea typeface="Calibri" pitchFamily="34" charset="-122"/>
                <a:cs typeface="Calibri" pitchFamily="34" charset="-120"/>
              </a:rPr>
              <a:t>appears in 60 score.csv rows (2%) but zero train.csv rows - the model never learned anything about this segment.</a:t>
            </a:r>
            <a:endParaRPr lang="en-US" sz="1200" dirty="0"/>
          </a:p>
        </p:txBody>
      </p:sp>
      <p:sp>
        <p:nvSpPr>
          <p:cNvPr id="17" name="Text 15"/>
          <p:cNvSpPr txBox="1"/>
          <p:nvPr/>
        </p:nvSpPr>
        <p:spPr>
          <a:xfrm>
            <a:off x="8366760" y="5074920"/>
            <a:ext cx="3063240" cy="8229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Fix: detect unseen categories explicitly, log a warning, route to "Other" on purpose.</a:t>
            </a:r>
            <a:endParaRPr lang="en-US" sz="1100" dirty="0"/>
          </a:p>
        </p:txBody>
      </p:sp>
      <p:sp>
        <p:nvSpPr>
          <p:cNvPr id="18" name="Text 1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4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same company shows up more than once</a:t>
            </a:r>
            <a:endParaRPr lang="en-US" sz="3200" dirty="0"/>
          </a:p>
        </p:txBody>
      </p:sp>
      <p:sp>
        <p:nvSpPr>
          <p:cNvPr id="4" name="Text 2"/>
          <p:cNvSpPr txBox="1"/>
          <p:nvPr/>
        </p:nvSpPr>
        <p:spPr>
          <a:xfrm>
            <a:off x="548640" y="1783080"/>
            <a:ext cx="6492240" cy="393192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insured_id is not unique per row - a company can have an APD row and an AL row and can appear across multiple annual snapshots.</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Most insureds in score.csv were already seen in train.csv - this is mostly a renewal book, not brand-new business.</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Distributing records from the same company across both training and validation splits introduces subtle data leakage, as the model can pick up feature patterns specific to that entity during training.</a:t>
            </a:r>
          </a:p>
        </p:txBody>
      </p:sp>
      <p:sp>
        <p:nvSpPr>
          <p:cNvPr id="5" name="Shape 3"/>
          <p:cNvSpPr/>
          <p:nvPr/>
        </p:nvSpPr>
        <p:spPr>
          <a:xfrm>
            <a:off x="7955280" y="2286000"/>
            <a:ext cx="3017520" cy="3017520"/>
          </a:xfrm>
          <a:prstGeom prst="ellipse">
            <a:avLst/>
          </a:prstGeom>
          <a:solidFill>
            <a:srgbClr val="1E2761"/>
          </a:solidFill>
          <a:ln/>
        </p:spPr>
        <p:txBody>
          <a:bodyPr/>
          <a:lstStyle/>
          <a:p>
            <a:endParaRPr lang="sk-SK"/>
          </a:p>
        </p:txBody>
      </p:sp>
      <p:sp>
        <p:nvSpPr>
          <p:cNvPr id="6" name="Text 4"/>
          <p:cNvSpPr txBox="1"/>
          <p:nvPr/>
        </p:nvSpPr>
        <p:spPr>
          <a:xfrm>
            <a:off x="7955280" y="2829154"/>
            <a:ext cx="3017520" cy="1357884"/>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~96%</a:t>
            </a:r>
            <a:endParaRPr lang="en-US" sz="3000" dirty="0"/>
          </a:p>
        </p:txBody>
      </p:sp>
      <p:sp>
        <p:nvSpPr>
          <p:cNvPr id="7" name="Text 5"/>
          <p:cNvSpPr txBox="1"/>
          <p:nvPr/>
        </p:nvSpPr>
        <p:spPr>
          <a:xfrm>
            <a:off x="7680960" y="4156862"/>
            <a:ext cx="3566160" cy="457200"/>
          </a:xfrm>
          <a:prstGeom prst="rect">
            <a:avLst/>
          </a:prstGeom>
          <a:noFill/>
          <a:ln/>
        </p:spPr>
        <p:txBody>
          <a:bodyPr wrap="square" rtlCol="0" anchor="t"/>
          <a:lstStyle/>
          <a:p>
            <a:pPr marL="0" indent="0" algn="ctr">
              <a:buNone/>
            </a:pPr>
            <a:r>
              <a:rPr lang="en-US" sz="1100" dirty="0">
                <a:solidFill>
                  <a:srgbClr val="EEF3FD"/>
                </a:solidFill>
                <a:latin typeface="Calibri" pitchFamily="34" charset="0"/>
                <a:ea typeface="Calibri" pitchFamily="34" charset="-122"/>
                <a:cs typeface="Calibri" pitchFamily="34" charset="-120"/>
              </a:rPr>
              <a:t>of holdout insureds</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were already seen</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in training data</a:t>
            </a:r>
            <a:endParaRPr lang="en-US" sz="1100" dirty="0"/>
          </a:p>
        </p:txBody>
      </p:sp>
      <p:sp>
        <p:nvSpPr>
          <p:cNvPr id="8"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5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Do the numeric features actually predict claims?</a:t>
            </a:r>
            <a:endParaRPr lang="en-US" sz="3200" dirty="0"/>
          </a:p>
        </p:txBody>
      </p:sp>
      <p:sp>
        <p:nvSpPr>
          <p:cNvPr id="10" name="Shape 5"/>
          <p:cNvSpPr/>
          <p:nvPr/>
        </p:nvSpPr>
        <p:spPr>
          <a:xfrm>
            <a:off x="548640" y="5257800"/>
            <a:ext cx="11064240" cy="868680"/>
          </a:xfrm>
          <a:prstGeom prst="roundRect">
            <a:avLst>
              <a:gd name="adj" fmla="val 84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1" name="Text 6"/>
          <p:cNvSpPr txBox="1"/>
          <p:nvPr/>
        </p:nvSpPr>
        <p:spPr>
          <a:xfrm>
            <a:off x="822960" y="5394960"/>
            <a:ext cx="10515600" cy="59436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Claim rate (%) rises consistently from the lowest to the highest bucket for all three - a real, if modest, signal worth keeping as model features (not just noise).</a:t>
            </a:r>
            <a:endParaRPr lang="en-US" sz="1250" dirty="0"/>
          </a:p>
        </p:txBody>
      </p:sp>
      <p:sp>
        <p:nvSpPr>
          <p:cNvPr id="12" name="Text 7"/>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pic>
        <p:nvPicPr>
          <p:cNvPr id="13" name="Obrázok 12">
            <a:extLst>
              <a:ext uri="{FF2B5EF4-FFF2-40B4-BE49-F238E27FC236}">
                <a16:creationId xmlns:a16="http://schemas.microsoft.com/office/drawing/2014/main" id="{C0CEB2C3-0248-DB00-B87F-CCE686D2E979}"/>
              </a:ext>
            </a:extLst>
          </p:cNvPr>
          <p:cNvPicPr>
            <a:picLocks noChangeAspect="1"/>
          </p:cNvPicPr>
          <p:nvPr/>
        </p:nvPicPr>
        <p:blipFill>
          <a:blip r:embed="rId3"/>
          <a:stretch>
            <a:fillRect/>
          </a:stretch>
        </p:blipFill>
        <p:spPr>
          <a:xfrm>
            <a:off x="389563" y="2072639"/>
            <a:ext cx="11409698" cy="24271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IMPROVEMENTS - PART 1</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Modeling methodology </a:t>
            </a:r>
            <a:endParaRPr lang="en-US" sz="3200" dirty="0"/>
          </a:p>
        </p:txBody>
      </p:sp>
      <p:sp>
        <p:nvSpPr>
          <p:cNvPr id="4" name="Shape 2"/>
          <p:cNvSpPr/>
          <p:nvPr/>
        </p:nvSpPr>
        <p:spPr>
          <a:xfrm>
            <a:off x="54864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777240" y="2011680"/>
            <a:ext cx="502920" cy="502920"/>
          </a:xfrm>
          <a:prstGeom prst="ellipse">
            <a:avLst/>
          </a:prstGeom>
          <a:solidFill>
            <a:srgbClr val="1E2761"/>
          </a:solidFill>
          <a:ln/>
        </p:spPr>
        <p:txBody>
          <a:bodyPr/>
          <a:lstStyle/>
          <a:p>
            <a:endParaRPr lang="sk-SK"/>
          </a:p>
        </p:txBody>
      </p:sp>
      <p:sp>
        <p:nvSpPr>
          <p:cNvPr id="6" name="Text 4"/>
          <p:cNvSpPr txBox="1"/>
          <p:nvPr/>
        </p:nvSpPr>
        <p:spPr>
          <a:xfrm>
            <a:off x="77724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41732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Removed data leakage</a:t>
            </a:r>
            <a:endParaRPr lang="en-US" sz="1350" dirty="0"/>
          </a:p>
        </p:txBody>
      </p:sp>
      <p:sp>
        <p:nvSpPr>
          <p:cNvPr id="8" name="Text 6"/>
          <p:cNvSpPr txBox="1"/>
          <p:nvPr/>
        </p:nvSpPr>
        <p:spPr>
          <a:xfrm>
            <a:off x="77724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Excluded the 4 post-outcome columns and added a schema check that raises an error if they are used.</a:t>
            </a:r>
            <a:endParaRPr lang="en-US" sz="1050" dirty="0"/>
          </a:p>
        </p:txBody>
      </p:sp>
      <p:sp>
        <p:nvSpPr>
          <p:cNvPr id="9" name="Shape 7"/>
          <p:cNvSpPr/>
          <p:nvPr/>
        </p:nvSpPr>
        <p:spPr>
          <a:xfrm>
            <a:off x="429768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4526280" y="2011680"/>
            <a:ext cx="502920" cy="502920"/>
          </a:xfrm>
          <a:prstGeom prst="ellipse">
            <a:avLst/>
          </a:prstGeom>
          <a:solidFill>
            <a:srgbClr val="1E2761"/>
          </a:solidFill>
          <a:ln/>
        </p:spPr>
        <p:txBody>
          <a:bodyPr/>
          <a:lstStyle/>
          <a:p>
            <a:endParaRPr lang="sk-SK"/>
          </a:p>
        </p:txBody>
      </p:sp>
      <p:sp>
        <p:nvSpPr>
          <p:cNvPr id="11" name="Text 9"/>
          <p:cNvSpPr txBox="1"/>
          <p:nvPr/>
        </p:nvSpPr>
        <p:spPr>
          <a:xfrm>
            <a:off x="452628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516636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Time-based holdout</a:t>
            </a:r>
            <a:endParaRPr lang="en-US" sz="1350" dirty="0"/>
          </a:p>
        </p:txBody>
      </p:sp>
      <p:sp>
        <p:nvSpPr>
          <p:cNvPr id="13" name="Text 11"/>
          <p:cNvSpPr txBox="1"/>
          <p:nvPr/>
        </p:nvSpPr>
        <p:spPr>
          <a:xfrm>
            <a:off x="452628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Train on older policies and test on newer ones to better reflect how the model would work in practice.</a:t>
            </a:r>
            <a:endParaRPr lang="en-US" sz="1050" dirty="0"/>
          </a:p>
        </p:txBody>
      </p:sp>
      <p:sp>
        <p:nvSpPr>
          <p:cNvPr id="14" name="Shape 12"/>
          <p:cNvSpPr/>
          <p:nvPr/>
        </p:nvSpPr>
        <p:spPr>
          <a:xfrm>
            <a:off x="804672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75320" y="2011680"/>
            <a:ext cx="502920" cy="502920"/>
          </a:xfrm>
          <a:prstGeom prst="ellipse">
            <a:avLst/>
          </a:prstGeom>
          <a:solidFill>
            <a:srgbClr val="1E2761"/>
          </a:solidFill>
          <a:ln/>
        </p:spPr>
        <p:txBody>
          <a:bodyPr/>
          <a:lstStyle/>
          <a:p>
            <a:endParaRPr lang="sk-SK"/>
          </a:p>
        </p:txBody>
      </p:sp>
      <p:sp>
        <p:nvSpPr>
          <p:cNvPr id="16" name="Text 14"/>
          <p:cNvSpPr txBox="1"/>
          <p:nvPr/>
        </p:nvSpPr>
        <p:spPr>
          <a:xfrm>
            <a:off x="827532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891540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Grouped + stratified CV</a:t>
            </a:r>
            <a:endParaRPr lang="en-US" sz="1350" dirty="0"/>
          </a:p>
        </p:txBody>
      </p:sp>
      <p:sp>
        <p:nvSpPr>
          <p:cNvPr id="18" name="Text 16"/>
          <p:cNvSpPr txBox="1"/>
          <p:nvPr/>
        </p:nvSpPr>
        <p:spPr>
          <a:xfrm>
            <a:off x="827532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StratifiedGroupKFold on insured_id - no company split across folds</a:t>
            </a:r>
            <a:endParaRPr lang="en-US" sz="1050" dirty="0"/>
          </a:p>
        </p:txBody>
      </p:sp>
      <p:sp>
        <p:nvSpPr>
          <p:cNvPr id="19" name="Shape 17"/>
          <p:cNvSpPr/>
          <p:nvPr/>
        </p:nvSpPr>
        <p:spPr>
          <a:xfrm>
            <a:off x="54864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777240" y="3794760"/>
            <a:ext cx="502920" cy="502920"/>
          </a:xfrm>
          <a:prstGeom prst="ellipse">
            <a:avLst/>
          </a:prstGeom>
          <a:solidFill>
            <a:srgbClr val="1E2761"/>
          </a:solidFill>
          <a:ln/>
        </p:spPr>
        <p:txBody>
          <a:bodyPr/>
          <a:lstStyle/>
          <a:p>
            <a:endParaRPr lang="sk-SK"/>
          </a:p>
        </p:txBody>
      </p:sp>
      <p:sp>
        <p:nvSpPr>
          <p:cNvPr id="21" name="Text 19"/>
          <p:cNvSpPr txBox="1"/>
          <p:nvPr/>
        </p:nvSpPr>
        <p:spPr>
          <a:xfrm>
            <a:off x="77724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141732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Calibrated probabilities</a:t>
            </a:r>
            <a:endParaRPr lang="en-US" sz="1350" dirty="0"/>
          </a:p>
        </p:txBody>
      </p:sp>
      <p:sp>
        <p:nvSpPr>
          <p:cNvPr id="23" name="Text 21"/>
          <p:cNvSpPr txBox="1"/>
          <p:nvPr/>
        </p:nvSpPr>
        <p:spPr>
          <a:xfrm>
            <a:off x="77724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CalibratedClassifierCV, auto-comparing isotonic vs sigmoid + AUC/PR-AUC/Brier</a:t>
            </a:r>
            <a:endParaRPr lang="en-US" sz="1050" dirty="0"/>
          </a:p>
        </p:txBody>
      </p:sp>
      <p:sp>
        <p:nvSpPr>
          <p:cNvPr id="24" name="Shape 22"/>
          <p:cNvSpPr/>
          <p:nvPr/>
        </p:nvSpPr>
        <p:spPr>
          <a:xfrm>
            <a:off x="429768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Shape 23"/>
          <p:cNvSpPr/>
          <p:nvPr/>
        </p:nvSpPr>
        <p:spPr>
          <a:xfrm>
            <a:off x="4526280" y="3794760"/>
            <a:ext cx="502920" cy="502920"/>
          </a:xfrm>
          <a:prstGeom prst="ellipse">
            <a:avLst/>
          </a:prstGeom>
          <a:solidFill>
            <a:srgbClr val="1E2761"/>
          </a:solidFill>
          <a:ln/>
        </p:spPr>
        <p:txBody>
          <a:bodyPr/>
          <a:lstStyle/>
          <a:p>
            <a:endParaRPr lang="sk-SK"/>
          </a:p>
        </p:txBody>
      </p:sp>
      <p:sp>
        <p:nvSpPr>
          <p:cNvPr id="26" name="Text 24"/>
          <p:cNvSpPr txBox="1"/>
          <p:nvPr/>
        </p:nvSpPr>
        <p:spPr>
          <a:xfrm>
            <a:off x="452628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5</a:t>
            </a:r>
            <a:endParaRPr lang="en-US" sz="1320" dirty="0"/>
          </a:p>
        </p:txBody>
      </p:sp>
      <p:sp>
        <p:nvSpPr>
          <p:cNvPr id="27" name="Text 25"/>
          <p:cNvSpPr txBox="1"/>
          <p:nvPr/>
        </p:nvSpPr>
        <p:spPr>
          <a:xfrm>
            <a:off x="516636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Model comparison</a:t>
            </a:r>
            <a:endParaRPr lang="en-US" sz="1350" dirty="0"/>
          </a:p>
        </p:txBody>
      </p:sp>
      <p:sp>
        <p:nvSpPr>
          <p:cNvPr id="28" name="Text 26"/>
          <p:cNvSpPr txBox="1"/>
          <p:nvPr/>
        </p:nvSpPr>
        <p:spPr>
          <a:xfrm>
            <a:off x="452628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LogisticRegression vs HistGradientBoosting, selected on CV metrics</a:t>
            </a:r>
            <a:endParaRPr lang="en-US" sz="1050" dirty="0"/>
          </a:p>
        </p:txBody>
      </p:sp>
      <p:sp>
        <p:nvSpPr>
          <p:cNvPr id="29" name="Shape 27"/>
          <p:cNvSpPr/>
          <p:nvPr/>
        </p:nvSpPr>
        <p:spPr>
          <a:xfrm>
            <a:off x="804672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30" name="Shape 28"/>
          <p:cNvSpPr/>
          <p:nvPr/>
        </p:nvSpPr>
        <p:spPr>
          <a:xfrm>
            <a:off x="8275320" y="3794760"/>
            <a:ext cx="502920" cy="502920"/>
          </a:xfrm>
          <a:prstGeom prst="ellipse">
            <a:avLst/>
          </a:prstGeom>
          <a:solidFill>
            <a:srgbClr val="1E2761"/>
          </a:solidFill>
          <a:ln/>
        </p:spPr>
        <p:txBody>
          <a:bodyPr/>
          <a:lstStyle/>
          <a:p>
            <a:endParaRPr lang="sk-SK"/>
          </a:p>
        </p:txBody>
      </p:sp>
      <p:sp>
        <p:nvSpPr>
          <p:cNvPr id="31" name="Text 29"/>
          <p:cNvSpPr txBox="1"/>
          <p:nvPr/>
        </p:nvSpPr>
        <p:spPr>
          <a:xfrm>
            <a:off x="827532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6</a:t>
            </a:r>
            <a:endParaRPr lang="en-US" sz="1320" dirty="0"/>
          </a:p>
        </p:txBody>
      </p:sp>
      <p:sp>
        <p:nvSpPr>
          <p:cNvPr id="32" name="Text 30"/>
          <p:cNvSpPr txBox="1"/>
          <p:nvPr/>
        </p:nvSpPr>
        <p:spPr>
          <a:xfrm>
            <a:off x="891540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Feature engineering</a:t>
            </a:r>
            <a:endParaRPr lang="en-US" sz="1350" dirty="0"/>
          </a:p>
        </p:txBody>
      </p:sp>
      <p:sp>
        <p:nvSpPr>
          <p:cNvPr id="33" name="Text 31"/>
          <p:cNvSpPr txBox="1"/>
          <p:nvPr/>
        </p:nvSpPr>
        <p:spPr>
          <a:xfrm>
            <a:off x="827532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driver_per_vehicle, heavy_vehicle_ratio, loss_to_limit_ratio</a:t>
            </a:r>
            <a:endParaRPr lang="en-US" sz="1050" dirty="0"/>
          </a:p>
        </p:txBody>
      </p:sp>
      <p:sp>
        <p:nvSpPr>
          <p:cNvPr id="34" name="Text 3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IMPROVEMENTS - PART 2</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Production readiness </a:t>
            </a:r>
            <a:endParaRPr lang="en-US" sz="3200" dirty="0"/>
          </a:p>
        </p:txBody>
      </p:sp>
      <p:sp>
        <p:nvSpPr>
          <p:cNvPr id="4" name="Shape 2"/>
          <p:cNvSpPr/>
          <p:nvPr/>
        </p:nvSpPr>
        <p:spPr>
          <a:xfrm>
            <a:off x="54864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777240" y="2011680"/>
            <a:ext cx="502920" cy="502920"/>
          </a:xfrm>
          <a:prstGeom prst="ellipse">
            <a:avLst/>
          </a:prstGeom>
          <a:solidFill>
            <a:srgbClr val="E8A33D"/>
          </a:solidFill>
          <a:ln/>
        </p:spPr>
        <p:txBody>
          <a:bodyPr/>
          <a:lstStyle/>
          <a:p>
            <a:endParaRPr lang="sk-SK"/>
          </a:p>
        </p:txBody>
      </p:sp>
      <p:sp>
        <p:nvSpPr>
          <p:cNvPr id="6" name="Text 4"/>
          <p:cNvSpPr txBox="1"/>
          <p:nvPr/>
        </p:nvSpPr>
        <p:spPr>
          <a:xfrm>
            <a:off x="77724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41732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Schema safety check</a:t>
            </a:r>
            <a:endParaRPr lang="en-US" sz="1350" dirty="0"/>
          </a:p>
        </p:txBody>
      </p:sp>
      <p:sp>
        <p:nvSpPr>
          <p:cNvPr id="8" name="Text 6"/>
          <p:cNvSpPr txBox="1"/>
          <p:nvPr/>
        </p:nvSpPr>
        <p:spPr>
          <a:xfrm>
            <a:off x="777240" y="2606040"/>
            <a:ext cx="3108960" cy="685800"/>
          </a:xfrm>
          <a:prstGeom prst="rect">
            <a:avLst/>
          </a:prstGeom>
          <a:noFill/>
          <a:ln/>
        </p:spPr>
        <p:txBody>
          <a:bodyPr wrap="square" rtlCol="0" anchor="ctr"/>
          <a:lstStyle/>
          <a:p>
            <a:pPr marL="0" indent="0">
              <a:buNone/>
            </a:pPr>
            <a:r>
              <a:rPr lang="en-US" sz="1050" dirty="0" err="1">
                <a:solidFill>
                  <a:srgbClr val="6B7280"/>
                </a:solidFill>
                <a:latin typeface="Calibri" pitchFamily="34" charset="0"/>
                <a:ea typeface="Calibri" pitchFamily="34" charset="-122"/>
                <a:cs typeface="Calibri" pitchFamily="34" charset="-120"/>
              </a:rPr>
              <a:t>validate_schema</a:t>
            </a:r>
            <a:r>
              <a:rPr lang="en-US" sz="1050" dirty="0">
                <a:solidFill>
                  <a:srgbClr val="6B7280"/>
                </a:solidFill>
                <a:latin typeface="Calibri" pitchFamily="34" charset="0"/>
                <a:ea typeface="Calibri" pitchFamily="34" charset="-122"/>
                <a:cs typeface="Calibri" pitchFamily="34" charset="-120"/>
              </a:rPr>
              <a:t>() fails if a banned or missing feature is used</a:t>
            </a:r>
            <a:endParaRPr lang="en-US" sz="1050" dirty="0"/>
          </a:p>
        </p:txBody>
      </p:sp>
      <p:sp>
        <p:nvSpPr>
          <p:cNvPr id="9" name="Shape 7"/>
          <p:cNvSpPr/>
          <p:nvPr/>
        </p:nvSpPr>
        <p:spPr>
          <a:xfrm>
            <a:off x="429768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4526280" y="2011680"/>
            <a:ext cx="502920" cy="502920"/>
          </a:xfrm>
          <a:prstGeom prst="ellipse">
            <a:avLst/>
          </a:prstGeom>
          <a:solidFill>
            <a:srgbClr val="E8A33D"/>
          </a:solidFill>
          <a:ln/>
        </p:spPr>
        <p:txBody>
          <a:bodyPr/>
          <a:lstStyle/>
          <a:p>
            <a:endParaRPr lang="sk-SK"/>
          </a:p>
        </p:txBody>
      </p:sp>
      <p:sp>
        <p:nvSpPr>
          <p:cNvPr id="11" name="Text 9"/>
          <p:cNvSpPr txBox="1"/>
          <p:nvPr/>
        </p:nvSpPr>
        <p:spPr>
          <a:xfrm>
            <a:off x="452628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516636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Shared preprocessing</a:t>
            </a:r>
            <a:endParaRPr lang="en-US" sz="1350" dirty="0"/>
          </a:p>
        </p:txBody>
      </p:sp>
      <p:sp>
        <p:nvSpPr>
          <p:cNvPr id="13" name="Text 11"/>
          <p:cNvSpPr txBox="1"/>
          <p:nvPr/>
        </p:nvSpPr>
        <p:spPr>
          <a:xfrm>
            <a:off x="452628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One function prepares train and score identically - no train/serve skew</a:t>
            </a:r>
            <a:endParaRPr lang="en-US" sz="1050" dirty="0"/>
          </a:p>
        </p:txBody>
      </p:sp>
      <p:sp>
        <p:nvSpPr>
          <p:cNvPr id="14" name="Shape 12"/>
          <p:cNvSpPr/>
          <p:nvPr/>
        </p:nvSpPr>
        <p:spPr>
          <a:xfrm>
            <a:off x="804672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75320" y="2011680"/>
            <a:ext cx="502920" cy="502920"/>
          </a:xfrm>
          <a:prstGeom prst="ellipse">
            <a:avLst/>
          </a:prstGeom>
          <a:solidFill>
            <a:srgbClr val="E8A33D"/>
          </a:solidFill>
          <a:ln/>
        </p:spPr>
        <p:txBody>
          <a:bodyPr/>
          <a:lstStyle/>
          <a:p>
            <a:endParaRPr lang="sk-SK"/>
          </a:p>
        </p:txBody>
      </p:sp>
      <p:sp>
        <p:nvSpPr>
          <p:cNvPr id="16" name="Text 14"/>
          <p:cNvSpPr txBox="1"/>
          <p:nvPr/>
        </p:nvSpPr>
        <p:spPr>
          <a:xfrm>
            <a:off x="827532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891540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Structured logging</a:t>
            </a:r>
            <a:endParaRPr lang="en-US" sz="1350" dirty="0"/>
          </a:p>
        </p:txBody>
      </p:sp>
      <p:sp>
        <p:nvSpPr>
          <p:cNvPr id="18" name="Text 16"/>
          <p:cNvSpPr txBox="1"/>
          <p:nvPr/>
        </p:nvSpPr>
        <p:spPr>
          <a:xfrm>
            <a:off x="827532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Timestamped, leveled logs instead of print() - readable, filterable</a:t>
            </a:r>
            <a:endParaRPr lang="en-US" sz="1050" dirty="0"/>
          </a:p>
        </p:txBody>
      </p:sp>
      <p:sp>
        <p:nvSpPr>
          <p:cNvPr id="19" name="Shape 17"/>
          <p:cNvSpPr/>
          <p:nvPr/>
        </p:nvSpPr>
        <p:spPr>
          <a:xfrm>
            <a:off x="54864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777240" y="3794760"/>
            <a:ext cx="502920" cy="502920"/>
          </a:xfrm>
          <a:prstGeom prst="ellipse">
            <a:avLst/>
          </a:prstGeom>
          <a:solidFill>
            <a:srgbClr val="E8A33D"/>
          </a:solidFill>
          <a:ln/>
        </p:spPr>
        <p:txBody>
          <a:bodyPr/>
          <a:lstStyle/>
          <a:p>
            <a:endParaRPr lang="sk-SK"/>
          </a:p>
        </p:txBody>
      </p:sp>
      <p:sp>
        <p:nvSpPr>
          <p:cNvPr id="21" name="Text 19"/>
          <p:cNvSpPr txBox="1"/>
          <p:nvPr/>
        </p:nvSpPr>
        <p:spPr>
          <a:xfrm>
            <a:off x="77724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141732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Model persistence</a:t>
            </a:r>
            <a:endParaRPr lang="en-US" sz="1350" dirty="0"/>
          </a:p>
        </p:txBody>
      </p:sp>
      <p:sp>
        <p:nvSpPr>
          <p:cNvPr id="23" name="Text 21"/>
          <p:cNvSpPr txBox="1"/>
          <p:nvPr/>
        </p:nvSpPr>
        <p:spPr>
          <a:xfrm>
            <a:off x="77724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joblib.dump() - reload the exact fitted model without retraining</a:t>
            </a:r>
            <a:endParaRPr lang="en-US" sz="1050" dirty="0"/>
          </a:p>
        </p:txBody>
      </p:sp>
      <p:sp>
        <p:nvSpPr>
          <p:cNvPr id="24" name="Shape 22"/>
          <p:cNvSpPr/>
          <p:nvPr/>
        </p:nvSpPr>
        <p:spPr>
          <a:xfrm>
            <a:off x="429768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Shape 23"/>
          <p:cNvSpPr/>
          <p:nvPr/>
        </p:nvSpPr>
        <p:spPr>
          <a:xfrm>
            <a:off x="4526280" y="3794760"/>
            <a:ext cx="502920" cy="502920"/>
          </a:xfrm>
          <a:prstGeom prst="ellipse">
            <a:avLst/>
          </a:prstGeom>
          <a:solidFill>
            <a:srgbClr val="E8A33D"/>
          </a:solidFill>
          <a:ln/>
        </p:spPr>
        <p:txBody>
          <a:bodyPr/>
          <a:lstStyle/>
          <a:p>
            <a:endParaRPr lang="sk-SK"/>
          </a:p>
        </p:txBody>
      </p:sp>
      <p:sp>
        <p:nvSpPr>
          <p:cNvPr id="26" name="Text 24"/>
          <p:cNvSpPr txBox="1"/>
          <p:nvPr/>
        </p:nvSpPr>
        <p:spPr>
          <a:xfrm>
            <a:off x="452628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5</a:t>
            </a:r>
            <a:endParaRPr lang="en-US" sz="1320" dirty="0"/>
          </a:p>
        </p:txBody>
      </p:sp>
      <p:sp>
        <p:nvSpPr>
          <p:cNvPr id="27" name="Text 25"/>
          <p:cNvSpPr txBox="1"/>
          <p:nvPr/>
        </p:nvSpPr>
        <p:spPr>
          <a:xfrm>
            <a:off x="516636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Modular, testable code</a:t>
            </a:r>
            <a:endParaRPr lang="en-US" sz="1350" dirty="0"/>
          </a:p>
        </p:txBody>
      </p:sp>
      <p:sp>
        <p:nvSpPr>
          <p:cNvPr id="28" name="Text 26"/>
          <p:cNvSpPr txBox="1"/>
          <p:nvPr/>
        </p:nvSpPr>
        <p:spPr>
          <a:xfrm>
            <a:off x="452628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Functions + main() guard, not a linear notebook cell sequence</a:t>
            </a:r>
            <a:endParaRPr lang="en-US" sz="1050" dirty="0"/>
          </a:p>
        </p:txBody>
      </p:sp>
      <p:sp>
        <p:nvSpPr>
          <p:cNvPr id="29" name="Shape 27"/>
          <p:cNvSpPr/>
          <p:nvPr/>
        </p:nvSpPr>
        <p:spPr>
          <a:xfrm>
            <a:off x="804672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30" name="Shape 28"/>
          <p:cNvSpPr/>
          <p:nvPr/>
        </p:nvSpPr>
        <p:spPr>
          <a:xfrm>
            <a:off x="8275320" y="3794760"/>
            <a:ext cx="502920" cy="502920"/>
          </a:xfrm>
          <a:prstGeom prst="ellipse">
            <a:avLst/>
          </a:prstGeom>
          <a:solidFill>
            <a:srgbClr val="E8A33D"/>
          </a:solidFill>
          <a:ln/>
        </p:spPr>
        <p:txBody>
          <a:bodyPr/>
          <a:lstStyle/>
          <a:p>
            <a:endParaRPr lang="sk-SK"/>
          </a:p>
        </p:txBody>
      </p:sp>
      <p:sp>
        <p:nvSpPr>
          <p:cNvPr id="31" name="Text 29"/>
          <p:cNvSpPr txBox="1"/>
          <p:nvPr/>
        </p:nvSpPr>
        <p:spPr>
          <a:xfrm>
            <a:off x="827532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6</a:t>
            </a:r>
            <a:endParaRPr lang="en-US" sz="1320" dirty="0"/>
          </a:p>
        </p:txBody>
      </p:sp>
      <p:sp>
        <p:nvSpPr>
          <p:cNvPr id="32" name="Text 30"/>
          <p:cNvSpPr txBox="1"/>
          <p:nvPr/>
        </p:nvSpPr>
        <p:spPr>
          <a:xfrm>
            <a:off x="891540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Portable data paths</a:t>
            </a:r>
            <a:endParaRPr lang="en-US" sz="1350" dirty="0"/>
          </a:p>
        </p:txBody>
      </p:sp>
      <p:sp>
        <p:nvSpPr>
          <p:cNvPr id="33" name="Text 31"/>
          <p:cNvSpPr txBox="1"/>
          <p:nvPr/>
        </p:nvSpPr>
        <p:spPr>
          <a:xfrm>
            <a:off x="827532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Optional DATA_DIR env var - same script runs locally and on Databricks</a:t>
            </a:r>
            <a:endParaRPr lang="en-US" sz="1050" dirty="0"/>
          </a:p>
        </p:txBody>
      </p:sp>
      <p:sp>
        <p:nvSpPr>
          <p:cNvPr id="34" name="Text 3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Two validation angles, used together</a:t>
            </a:r>
            <a:endParaRPr lang="en-US" sz="3200" dirty="0"/>
          </a:p>
        </p:txBody>
      </p:sp>
      <p:sp>
        <p:nvSpPr>
          <p:cNvPr id="4" name="Shape 2"/>
          <p:cNvSpPr/>
          <p:nvPr/>
        </p:nvSpPr>
        <p:spPr>
          <a:xfrm>
            <a:off x="548640" y="1783080"/>
            <a:ext cx="534924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68680" y="2011680"/>
            <a:ext cx="45720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TEMPORAL HOLDOUT</a:t>
            </a:r>
            <a:endParaRPr lang="en-US" sz="1300" dirty="0"/>
          </a:p>
        </p:txBody>
      </p:sp>
      <p:sp>
        <p:nvSpPr>
          <p:cNvPr id="6" name="Shape 4"/>
          <p:cNvSpPr/>
          <p:nvPr/>
        </p:nvSpPr>
        <p:spPr>
          <a:xfrm>
            <a:off x="868680" y="2606040"/>
            <a:ext cx="3200400" cy="411480"/>
          </a:xfrm>
          <a:prstGeom prst="rect">
            <a:avLst/>
          </a:prstGeom>
          <a:solidFill>
            <a:srgbClr val="1E2761"/>
          </a:solidFill>
          <a:ln/>
        </p:spPr>
        <p:txBody>
          <a:bodyPr/>
          <a:lstStyle/>
          <a:p>
            <a:endParaRPr lang="sk-SK"/>
          </a:p>
        </p:txBody>
      </p:sp>
      <p:sp>
        <p:nvSpPr>
          <p:cNvPr id="7" name="Shape 5"/>
          <p:cNvSpPr/>
          <p:nvPr/>
        </p:nvSpPr>
        <p:spPr>
          <a:xfrm>
            <a:off x="4069080" y="2606040"/>
            <a:ext cx="1143000" cy="411480"/>
          </a:xfrm>
          <a:prstGeom prst="rect">
            <a:avLst/>
          </a:prstGeom>
          <a:solidFill>
            <a:srgbClr val="E8A33D"/>
          </a:solidFill>
          <a:ln/>
        </p:spPr>
        <p:txBody>
          <a:bodyPr/>
          <a:lstStyle/>
          <a:p>
            <a:endParaRPr lang="sk-SK"/>
          </a:p>
        </p:txBody>
      </p:sp>
      <p:sp>
        <p:nvSpPr>
          <p:cNvPr id="8" name="Text 6"/>
          <p:cNvSpPr txBox="1"/>
          <p:nvPr/>
        </p:nvSpPr>
        <p:spPr>
          <a:xfrm>
            <a:off x="868680" y="2606040"/>
            <a:ext cx="320040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 (older)</a:t>
            </a:r>
            <a:endParaRPr lang="en-US" sz="1000" dirty="0"/>
          </a:p>
        </p:txBody>
      </p:sp>
      <p:sp>
        <p:nvSpPr>
          <p:cNvPr id="9" name="Text 7"/>
          <p:cNvSpPr txBox="1"/>
          <p:nvPr/>
        </p:nvSpPr>
        <p:spPr>
          <a:xfrm>
            <a:off x="4069080" y="2606040"/>
            <a:ext cx="1143000" cy="411480"/>
          </a:xfrm>
          <a:prstGeom prst="rect">
            <a:avLst/>
          </a:prstGeom>
          <a:noFill/>
          <a:ln/>
        </p:spPr>
        <p:txBody>
          <a:bodyPr wrap="square" rtlCol="0" anchor="ctr"/>
          <a:lstStyle/>
          <a:p>
            <a:pPr marL="0" indent="0" algn="ctr">
              <a:buNone/>
            </a:pPr>
            <a:r>
              <a:rPr lang="en-US" sz="900" b="1" dirty="0">
                <a:solidFill>
                  <a:srgbClr val="141A45"/>
                </a:solidFill>
                <a:latin typeface="Calibri" pitchFamily="34" charset="0"/>
                <a:ea typeface="Calibri" pitchFamily="34" charset="-122"/>
                <a:cs typeface="Calibri" pitchFamily="34" charset="-120"/>
              </a:rPr>
              <a:t>holdout</a:t>
            </a:r>
            <a:endParaRPr lang="en-US" sz="900" dirty="0"/>
          </a:p>
        </p:txBody>
      </p:sp>
      <p:sp>
        <p:nvSpPr>
          <p:cNvPr id="10" name="Text 8"/>
          <p:cNvSpPr txBox="1"/>
          <p:nvPr/>
        </p:nvSpPr>
        <p:spPr>
          <a:xfrm>
            <a:off x="868680" y="3246120"/>
            <a:ext cx="4709160" cy="137160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Sorted by snapshot_date - most recent ~20% held out. Mirrors how the model is actually used: trained on the past, scored on the future.</a:t>
            </a:r>
            <a:endParaRPr lang="en-US" sz="1250" dirty="0"/>
          </a:p>
        </p:txBody>
      </p:sp>
      <p:sp>
        <p:nvSpPr>
          <p:cNvPr id="12" name="Shape 10"/>
          <p:cNvSpPr/>
          <p:nvPr/>
        </p:nvSpPr>
        <p:spPr>
          <a:xfrm>
            <a:off x="6126480" y="1783080"/>
            <a:ext cx="548640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3" name="Text 11"/>
          <p:cNvSpPr txBox="1"/>
          <p:nvPr/>
        </p:nvSpPr>
        <p:spPr>
          <a:xfrm>
            <a:off x="6446520" y="2011680"/>
            <a:ext cx="45720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GROUPED, STRATIFIED CV</a:t>
            </a:r>
            <a:endParaRPr lang="en-US" sz="1300" dirty="0"/>
          </a:p>
        </p:txBody>
      </p:sp>
      <p:sp>
        <p:nvSpPr>
          <p:cNvPr id="14" name="Text 12"/>
          <p:cNvSpPr txBox="1"/>
          <p:nvPr/>
        </p:nvSpPr>
        <p:spPr>
          <a:xfrm>
            <a:off x="6446520" y="2468880"/>
            <a:ext cx="4846320" cy="64008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StratifiedGroupKFold(5), grouped by insured_id, within the development set.</a:t>
            </a:r>
            <a:endParaRPr lang="en-US" sz="1250" dirty="0"/>
          </a:p>
        </p:txBody>
      </p:sp>
      <p:sp>
        <p:nvSpPr>
          <p:cNvPr id="15" name="Text 13"/>
          <p:cNvSpPr txBox="1"/>
          <p:nvPr/>
        </p:nvSpPr>
        <p:spPr>
          <a:xfrm>
            <a:off x="6446520" y="3246120"/>
            <a:ext cx="4846320" cy="2286000"/>
          </a:xfrm>
          <a:prstGeom prst="rect">
            <a:avLst/>
          </a:prstGeom>
          <a:noFill/>
          <a:ln/>
        </p:spPr>
        <p:txBody>
          <a:bodyPr wrap="square" rtlCol="0" anchor="t"/>
          <a:lstStyle/>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Grouped: a company's rows never split across train/validation in the same fold</a:t>
            </a:r>
            <a:endParaRPr lang="en-US" sz="1200" dirty="0"/>
          </a:p>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Stratified: ~12% positive rate stays consistent across folds</a:t>
            </a:r>
            <a:endParaRPr lang="en-US" sz="1200" dirty="0"/>
          </a:p>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Same grouped folds reused for calibration - not just model selection</a:t>
            </a:r>
            <a:endParaRPr lang="en-US" sz="1200" dirty="0"/>
          </a:p>
        </p:txBody>
      </p:sp>
      <p:sp>
        <p:nvSpPr>
          <p:cNvPr id="16" name="Text 14"/>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RESULTS</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Model evaluation</a:t>
            </a:r>
            <a:endParaRPr lang="en-US" sz="3200" dirty="0"/>
          </a:p>
        </p:txBody>
      </p:sp>
      <p:sp>
        <p:nvSpPr>
          <p:cNvPr id="4" name="Text 2"/>
          <p:cNvSpPr txBox="1"/>
          <p:nvPr/>
        </p:nvSpPr>
        <p:spPr>
          <a:xfrm>
            <a:off x="548640" y="1691640"/>
            <a:ext cx="5486400" cy="32004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CROSS-VALIDATION (dev, 5-fold)</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5568696" cy="1005840"/>
        </p:xfrm>
        <a:graphic>
          <a:graphicData uri="http://schemas.openxmlformats.org/drawingml/2006/table">
            <a:tbl>
              <a:tblPr/>
              <a:tblGrid>
                <a:gridCol w="2743200">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tblGrid>
              <a:tr h="3352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PR-AUC</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Brier</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35280">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LogisticRegression (selected)</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0.660</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0.219</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0.229</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HistGradientBoosting</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0.643</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0.215</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0.106</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txBox="1"/>
          <p:nvPr/>
        </p:nvSpPr>
        <p:spPr>
          <a:xfrm>
            <a:off x="548640" y="3246120"/>
            <a:ext cx="5486400" cy="27432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CALIBRATION METHOD COMPARISON (holdout)</a:t>
            </a:r>
            <a:endParaRPr lang="en-US" sz="1100" dirty="0"/>
          </a:p>
        </p:txBody>
      </p:sp>
      <p:sp>
        <p:nvSpPr>
          <p:cNvPr id="7" name="Text 4"/>
          <p:cNvSpPr txBox="1"/>
          <p:nvPr/>
        </p:nvSpPr>
        <p:spPr>
          <a:xfrm>
            <a:off x="548640" y="3520440"/>
            <a:ext cx="5577840" cy="457200"/>
          </a:xfrm>
          <a:prstGeom prst="rect">
            <a:avLst/>
          </a:prstGeom>
          <a:noFill/>
          <a:ln/>
        </p:spPr>
        <p:txBody>
          <a:bodyPr wrap="square" rtlCol="0" anchor="ctr"/>
          <a:lstStyle/>
          <a:p>
            <a:pPr marL="0" indent="0">
              <a:buNone/>
            </a:pPr>
            <a:r>
              <a:rPr lang="en-US" sz="1050" dirty="0">
                <a:solidFill>
                  <a:srgbClr val="1A1F3D"/>
                </a:solidFill>
                <a:latin typeface="Calibri" pitchFamily="34" charset="0"/>
                <a:ea typeface="Calibri" pitchFamily="34" charset="-122"/>
                <a:cs typeface="Calibri" pitchFamily="34" charset="-120"/>
              </a:rPr>
              <a:t>isotonic: AUC 0.694 / PR-AUC 0.221 / Brier 0.099     sigmoid: AUC 0.696 / PR-AUC 0.223 / Brier 0.099  -  sigmoid selected</a:t>
            </a:r>
            <a:endParaRPr lang="en-US" sz="1050" dirty="0"/>
          </a:p>
        </p:txBody>
      </p:sp>
      <p:sp>
        <p:nvSpPr>
          <p:cNvPr id="8" name="Text 5"/>
          <p:cNvSpPr txBox="1"/>
          <p:nvPr/>
        </p:nvSpPr>
        <p:spPr>
          <a:xfrm>
            <a:off x="548640" y="3931920"/>
            <a:ext cx="5486400" cy="32004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HOLDOUT (after calibration method selection)</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8640" y="4251960"/>
          <a:ext cx="5577840" cy="1417320"/>
        </p:xfrm>
        <a:graphic>
          <a:graphicData uri="http://schemas.openxmlformats.org/drawingml/2006/table">
            <a:tbl>
              <a:tblPr/>
              <a:tblGrid>
                <a:gridCol w="1115568">
                  <a:extLst>
                    <a:ext uri="{9D8B030D-6E8A-4147-A177-3AD203B41FA5}">
                      <a16:colId xmlns:a16="http://schemas.microsoft.com/office/drawing/2014/main" val="20000"/>
                    </a:ext>
                  </a:extLst>
                </a:gridCol>
                <a:gridCol w="1115568">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tblGrid>
              <a:tr h="29718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Slice</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AUC</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PR-AUC</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Overall</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3,008</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0.696</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0.223</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0.099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Insured seen in dev</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2,889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0.695</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0.223</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0.100</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Insured new to holdout</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0.722</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0.284</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0.085</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7"/>
          <p:cNvSpPr/>
          <p:nvPr/>
        </p:nvSpPr>
        <p:spPr>
          <a:xfrm>
            <a:off x="6400800" y="1691640"/>
            <a:ext cx="5257800" cy="4754880"/>
          </a:xfrm>
          <a:prstGeom prst="roundRect">
            <a:avLst>
              <a:gd name="adj" fmla="val 153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pic>
        <p:nvPicPr>
          <p:cNvPr id="12" name="Image 0" descr="/home/claude/run3/holdout_diagnostics.png"/>
          <p:cNvPicPr>
            <a:picLocks noChangeAspect="1"/>
          </p:cNvPicPr>
          <p:nvPr/>
        </p:nvPicPr>
        <p:blipFill>
          <a:blip r:embed="rId3"/>
          <a:stretch>
            <a:fillRect/>
          </a:stretch>
        </p:blipFill>
        <p:spPr>
          <a:xfrm>
            <a:off x="6583680" y="1874520"/>
            <a:ext cx="4892040" cy="1956816"/>
          </a:xfrm>
          <a:prstGeom prst="rect">
            <a:avLst/>
          </a:prstGeom>
        </p:spPr>
      </p:pic>
      <p:sp>
        <p:nvSpPr>
          <p:cNvPr id="5" name="Text 8"/>
          <p:cNvSpPr txBox="1"/>
          <p:nvPr/>
        </p:nvSpPr>
        <p:spPr>
          <a:xfrm>
            <a:off x="6583680" y="3931920"/>
            <a:ext cx="489204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ROC and calibration curves on the holdout set.</a:t>
            </a:r>
            <a:endParaRPr lang="en-US" sz="1100" dirty="0"/>
          </a:p>
        </p:txBody>
      </p:sp>
      <p:sp>
        <p:nvSpPr>
          <p:cNvPr id="14" name="Text 9"/>
          <p:cNvSpPr txBox="1"/>
          <p:nvPr/>
        </p:nvSpPr>
        <p:spPr>
          <a:xfrm>
            <a:off x="6583680" y="4434840"/>
            <a:ext cx="4892040" cy="173736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Accuracy wasn't used - predicting "no claim" for everyone already scores 88% on this data.</a:t>
            </a:r>
            <a:endParaRPr lang="en-US" sz="1250" dirty="0"/>
          </a:p>
        </p:txBody>
      </p:sp>
      <p:sp>
        <p:nvSpPr>
          <p:cNvPr id="15" name="Text 10"/>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EXPLAINABILITY</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Which factors drive the risk score</a:t>
            </a:r>
            <a:endParaRPr lang="en-US" sz="3200" dirty="0"/>
          </a:p>
        </p:txBody>
      </p:sp>
      <p:graphicFrame>
        <p:nvGraphicFramePr>
          <p:cNvPr id="4" name="Chart 0"/>
          <p:cNvGraphicFramePr/>
          <p:nvPr/>
        </p:nvGraphicFramePr>
        <p:xfrm>
          <a:off x="548640" y="173736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737360"/>
            <a:ext cx="3886200" cy="3931920"/>
          </a:xfrm>
          <a:prstGeom prst="roundRect">
            <a:avLst>
              <a:gd name="adj" fmla="val 1882"/>
            </a:avLst>
          </a:prstGeom>
          <a:solidFill>
            <a:srgbClr val="1E2761"/>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3"/>
          <p:cNvSpPr txBox="1"/>
          <p:nvPr/>
        </p:nvSpPr>
        <p:spPr>
          <a:xfrm>
            <a:off x="8092440" y="1965960"/>
            <a:ext cx="3291840" cy="274320"/>
          </a:xfrm>
          <a:prstGeom prst="rect">
            <a:avLst/>
          </a:prstGeom>
          <a:noFill/>
          <a:ln/>
        </p:spPr>
        <p:txBody>
          <a:bodyPr wrap="square"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TOP FINDING</a:t>
            </a:r>
            <a:endParaRPr lang="en-US" sz="1100" dirty="0"/>
          </a:p>
        </p:txBody>
      </p:sp>
      <p:sp>
        <p:nvSpPr>
          <p:cNvPr id="7" name="Text 4"/>
          <p:cNvSpPr txBox="1"/>
          <p:nvPr/>
        </p:nvSpPr>
        <p:spPr>
          <a:xfrm>
            <a:off x="8092440" y="2331720"/>
            <a:ext cx="329184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coverage_type</a:t>
            </a:r>
            <a:endParaRPr lang="en-US" sz="2200" dirty="0"/>
          </a:p>
        </p:txBody>
      </p:sp>
      <p:sp>
        <p:nvSpPr>
          <p:cNvPr id="8" name="Text 5"/>
          <p:cNvSpPr txBox="1"/>
          <p:nvPr/>
        </p:nvSpPr>
        <p:spPr>
          <a:xfrm>
            <a:off x="8092440" y="2971800"/>
            <a:ext cx="3291840" cy="2468880"/>
          </a:xfrm>
          <a:prstGeom prst="rect">
            <a:avLst/>
          </a:prstGeom>
          <a:noFill/>
          <a:ln/>
        </p:spPr>
        <p:txBody>
          <a:bodyPr wrap="square" rtlCol="0" anchor="ctr"/>
          <a:lstStyle/>
          <a:p>
            <a:pPr marL="0" indent="0">
              <a:buNone/>
            </a:pPr>
            <a:r>
              <a:rPr lang="en-US" sz="1250" dirty="0">
                <a:solidFill>
                  <a:srgbClr val="EEF3FD"/>
                </a:solidFill>
                <a:latin typeface="Calibri" pitchFamily="34" charset="0"/>
                <a:ea typeface="Calibri" pitchFamily="34" charset="-122"/>
                <a:cs typeface="Calibri" pitchFamily="34" charset="-120"/>
              </a:rPr>
              <a:t>(APD vs AL) was the most important feature in the final model. This also supports the EDA finding that the two coverage types may behave differently. I kept them in one model to keep the solution simpler and have more data for training, but separate models could be tested in the future.</a:t>
            </a:r>
            <a:endParaRPr lang="en-US" sz="1250" dirty="0"/>
          </a:p>
        </p:txBody>
      </p:sp>
      <p:sp>
        <p:nvSpPr>
          <p:cNvPr id="9"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CADCFC"/>
                </a:solidFill>
                <a:effectLst/>
                <a:uLnTx/>
                <a:uFillTx/>
                <a:latin typeface="Calibri" pitchFamily="34" charset="0"/>
                <a:ea typeface="Calibri" pitchFamily="34" charset="-122"/>
                <a:cs typeface="Calibri" pitchFamily="34" charset="-120"/>
              </a:rPr>
              <a:t>BOTTOM LINE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777240"/>
            <a:ext cx="110642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What the Model Produces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822960" y="1965960"/>
            <a:ext cx="3017520" cy="3017520"/>
          </a:xfrm>
          <a:prstGeom prst="ellipse">
            <a:avLst/>
          </a:prstGeom>
          <a:solidFill>
            <a:srgbClr val="141A4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822960" y="2509114"/>
            <a:ext cx="3017520" cy="13578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3,000</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548640" y="3836822"/>
            <a:ext cx="356616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policies scored,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one calibrated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probability each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548640" y="5166360"/>
            <a:ext cx="35661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predictions.csv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480560" y="1920240"/>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4892040" y="1828800"/>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Leakage-proofed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4892040" y="2167128"/>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banned columns + a schema check that fails loudly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480560" y="2670048"/>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4892040" y="2578608"/>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Validated realistically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4892040" y="2916936"/>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temporal holdout + grouped CV, not a random split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480560" y="3419856"/>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4892040" y="3328416"/>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Calibrated honestly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4892040" y="3666744"/>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isotonic vs sigmoid chosen by evidence, not convention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480560" y="4169664"/>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4892040" y="4078224"/>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Explainable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4892040" y="4416552"/>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permutation importance shows what actually drives the score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480560" y="4919472"/>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4892040" y="4828032"/>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Production-minded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4892040" y="5166360"/>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logging, model persistence, portable across environments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48640" y="5623560"/>
            <a:ext cx="11064240" cy="777240"/>
          </a:xfrm>
          <a:prstGeom prst="roundRect">
            <a:avLst>
              <a:gd name="adj" fmla="val 9412"/>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822960" y="5760720"/>
            <a:ext cx="10515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This isn't a finished pricing model - it's a demonstration that the process behind it was built the way a production risk-scoring system should be.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11548872" y="6446520"/>
            <a:ext cx="36576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14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ROADMAP</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Before this goes to production</a:t>
            </a:r>
            <a:endParaRPr lang="en-US" sz="3200" dirty="0"/>
          </a:p>
        </p:txBody>
      </p:sp>
      <p:sp>
        <p:nvSpPr>
          <p:cNvPr id="4" name="Shape 2"/>
          <p:cNvSpPr/>
          <p:nvPr/>
        </p:nvSpPr>
        <p:spPr>
          <a:xfrm>
            <a:off x="548640" y="173736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22960" y="192024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Modeling &amp; validation</a:t>
            </a:r>
            <a:endParaRPr lang="en-US" sz="1450" dirty="0"/>
          </a:p>
        </p:txBody>
      </p:sp>
      <p:sp>
        <p:nvSpPr>
          <p:cNvPr id="6" name="Text 4"/>
          <p:cNvSpPr txBox="1"/>
          <p:nvPr/>
        </p:nvSpPr>
        <p:spPr>
          <a:xfrm>
            <a:off x="822960" y="230428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Compare XGBoost/LightGBM/CatBoost</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Re-test isotonic vs sigmoid calibration at scale</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Evaluate splitting APD / AL into separate models</a:t>
            </a:r>
            <a:endParaRPr lang="en-US" sz="1100" dirty="0"/>
          </a:p>
        </p:txBody>
      </p:sp>
      <p:sp>
        <p:nvSpPr>
          <p:cNvPr id="7" name="Shape 5"/>
          <p:cNvSpPr/>
          <p:nvPr/>
        </p:nvSpPr>
        <p:spPr>
          <a:xfrm>
            <a:off x="6172200" y="173736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8" name="Text 6"/>
          <p:cNvSpPr txBox="1"/>
          <p:nvPr/>
        </p:nvSpPr>
        <p:spPr>
          <a:xfrm>
            <a:off x="6446520" y="192024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Explainability &amp; fairness</a:t>
            </a:r>
            <a:endParaRPr lang="en-US" sz="1450" dirty="0"/>
          </a:p>
        </p:txBody>
      </p:sp>
      <p:sp>
        <p:nvSpPr>
          <p:cNvPr id="9" name="Text 7"/>
          <p:cNvSpPr txBox="1"/>
          <p:nvPr/>
        </p:nvSpPr>
        <p:spPr>
          <a:xfrm>
            <a:off x="6446520" y="230428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Per-prediction explanations (SHAP), not just aggregate importance</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Check model performance across state and business_type</a:t>
            </a:r>
            <a:endParaRPr lang="en-US" sz="1100" dirty="0"/>
          </a:p>
        </p:txBody>
      </p:sp>
      <p:sp>
        <p:nvSpPr>
          <p:cNvPr id="10" name="Shape 8"/>
          <p:cNvSpPr/>
          <p:nvPr/>
        </p:nvSpPr>
        <p:spPr>
          <a:xfrm>
            <a:off x="548640" y="388620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1" name="Text 9"/>
          <p:cNvSpPr txBox="1"/>
          <p:nvPr/>
        </p:nvSpPr>
        <p:spPr>
          <a:xfrm>
            <a:off x="822960" y="406908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Monitoring &amp; operations</a:t>
            </a:r>
            <a:endParaRPr lang="en-US" sz="1450" dirty="0"/>
          </a:p>
        </p:txBody>
      </p:sp>
      <p:sp>
        <p:nvSpPr>
          <p:cNvPr id="12" name="Text 10"/>
          <p:cNvSpPr txBox="1"/>
          <p:nvPr/>
        </p:nvSpPr>
        <p:spPr>
          <a:xfrm>
            <a:off x="822960" y="445312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cs typeface="Calibri" pitchFamily="34" charset="-120"/>
              </a:rPr>
              <a:t>Monitor feature and prediction drift and set up for unexpected changes</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Define a regular retraining process and compare the model against the existing </a:t>
            </a:r>
            <a:r>
              <a:rPr lang="en-US" sz="1100" dirty="0" err="1">
                <a:solidFill>
                  <a:srgbClr val="1A1F3D"/>
                </a:solidFill>
                <a:latin typeface="Calibri" pitchFamily="34" charset="0"/>
                <a:ea typeface="Calibri" pitchFamily="34" charset="-122"/>
                <a:cs typeface="Calibri" pitchFamily="34" charset="-120"/>
              </a:rPr>
              <a:t>risk_score_external</a:t>
            </a:r>
            <a:r>
              <a:rPr lang="en-US" sz="1100" dirty="0">
                <a:solidFill>
                  <a:srgbClr val="1A1F3D"/>
                </a:solidFill>
                <a:latin typeface="Calibri" pitchFamily="34" charset="0"/>
                <a:ea typeface="Calibri" pitchFamily="34" charset="-122"/>
                <a:cs typeface="Calibri" pitchFamily="34" charset="-120"/>
              </a:rPr>
              <a:t> benchmark</a:t>
            </a:r>
            <a:endParaRPr lang="en-US" sz="1100" dirty="0"/>
          </a:p>
        </p:txBody>
      </p:sp>
      <p:sp>
        <p:nvSpPr>
          <p:cNvPr id="13" name="Shape 11"/>
          <p:cNvSpPr/>
          <p:nvPr/>
        </p:nvSpPr>
        <p:spPr>
          <a:xfrm>
            <a:off x="6172200" y="388620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4" name="Text 12"/>
          <p:cNvSpPr txBox="1"/>
          <p:nvPr/>
        </p:nvSpPr>
        <p:spPr>
          <a:xfrm>
            <a:off x="6446520" y="406908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Engineering &amp; governance</a:t>
            </a:r>
            <a:endParaRPr lang="en-US" sz="1450" dirty="0"/>
          </a:p>
        </p:txBody>
      </p:sp>
      <p:sp>
        <p:nvSpPr>
          <p:cNvPr id="15" name="Text 13"/>
          <p:cNvSpPr txBox="1"/>
          <p:nvPr/>
        </p:nvSpPr>
        <p:spPr>
          <a:xfrm>
            <a:off x="6446520" y="445312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Move the current script into a versioned production pipeline with automated data and schema checks</a:t>
            </a:r>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Add model documentation, access controls, audit logging, and the necessary actuarial and compliance review before deployment</a:t>
            </a:r>
          </a:p>
          <a:p>
            <a:pPr marL="342900" indent="-342900">
              <a:spcAft>
                <a:spcPts val="600"/>
              </a:spcAft>
              <a:buSzPct val="100000"/>
              <a:buChar char="•"/>
            </a:pPr>
            <a:endParaRPr lang="en-US" sz="1100" dirty="0">
              <a:solidFill>
                <a:srgbClr val="1A1F3D"/>
              </a:solidFill>
              <a:latin typeface="Calibri" pitchFamily="34" charset="0"/>
              <a:ea typeface="Calibri" pitchFamily="34" charset="-122"/>
              <a:cs typeface="Calibri" pitchFamily="34" charset="-120"/>
            </a:endParaRPr>
          </a:p>
        </p:txBody>
      </p:sp>
      <p:sp>
        <p:nvSpPr>
          <p:cNvPr id="16" name="Text 14"/>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REFLECTION</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 learned working on this</a:t>
            </a:r>
            <a:endParaRPr lang="en-US" sz="3200" dirty="0"/>
          </a:p>
        </p:txBody>
      </p:sp>
      <p:sp>
        <p:nvSpPr>
          <p:cNvPr id="4" name="Shape 2"/>
          <p:cNvSpPr/>
          <p:nvPr/>
        </p:nvSpPr>
        <p:spPr>
          <a:xfrm>
            <a:off x="548640" y="17830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822960" y="2057400"/>
            <a:ext cx="502920" cy="502920"/>
          </a:xfrm>
          <a:prstGeom prst="ellipse">
            <a:avLst/>
          </a:prstGeom>
          <a:solidFill>
            <a:srgbClr val="1E2761"/>
          </a:solidFill>
          <a:ln/>
        </p:spPr>
        <p:txBody>
          <a:bodyPr/>
          <a:lstStyle/>
          <a:p>
            <a:endParaRPr lang="sk-SK"/>
          </a:p>
        </p:txBody>
      </p:sp>
      <p:sp>
        <p:nvSpPr>
          <p:cNvPr id="6" name="Text 4"/>
          <p:cNvSpPr txBox="1"/>
          <p:nvPr/>
        </p:nvSpPr>
        <p:spPr>
          <a:xfrm>
            <a:off x="822960" y="20574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508760" y="20391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A "fair" comparison isn't automatic</a:t>
            </a:r>
            <a:endParaRPr lang="en-US" sz="1450" dirty="0"/>
          </a:p>
        </p:txBody>
      </p:sp>
      <p:sp>
        <p:nvSpPr>
          <p:cNvPr id="8" name="Text 6"/>
          <p:cNvSpPr txBox="1"/>
          <p:nvPr/>
        </p:nvSpPr>
        <p:spPr>
          <a:xfrm>
            <a:off x="822960" y="27432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LogisticRegression had class_weight="balanced"; HistGradientBoosting didn't. Easy to miss, changes the outcome.</a:t>
            </a:r>
            <a:endParaRPr lang="en-US" sz="1200" dirty="0"/>
          </a:p>
        </p:txBody>
      </p:sp>
      <p:sp>
        <p:nvSpPr>
          <p:cNvPr id="9" name="Shape 7"/>
          <p:cNvSpPr/>
          <p:nvPr/>
        </p:nvSpPr>
        <p:spPr>
          <a:xfrm>
            <a:off x="6172200" y="17830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6446520" y="2057400"/>
            <a:ext cx="502920" cy="502920"/>
          </a:xfrm>
          <a:prstGeom prst="ellipse">
            <a:avLst/>
          </a:prstGeom>
          <a:solidFill>
            <a:srgbClr val="1E2761"/>
          </a:solidFill>
          <a:ln/>
        </p:spPr>
        <p:txBody>
          <a:bodyPr/>
          <a:lstStyle/>
          <a:p>
            <a:endParaRPr lang="sk-SK"/>
          </a:p>
        </p:txBody>
      </p:sp>
      <p:sp>
        <p:nvSpPr>
          <p:cNvPr id="11" name="Text 9"/>
          <p:cNvSpPr txBox="1"/>
          <p:nvPr/>
        </p:nvSpPr>
        <p:spPr>
          <a:xfrm>
            <a:off x="6446520" y="20574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7132320" y="20391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Raw Brier can mislead across models</a:t>
            </a:r>
            <a:endParaRPr lang="en-US" sz="1450" dirty="0"/>
          </a:p>
        </p:txBody>
      </p:sp>
      <p:sp>
        <p:nvSpPr>
          <p:cNvPr id="13" name="Text 11"/>
          <p:cNvSpPr txBox="1"/>
          <p:nvPr/>
        </p:nvSpPr>
        <p:spPr>
          <a:xfrm>
            <a:off x="6446520" y="27432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HGB looked better pre-calibration just because tree ensembles output more extreme probabilities - not more accurate ones.</a:t>
            </a:r>
            <a:endParaRPr lang="en-US" sz="1200" dirty="0"/>
          </a:p>
        </p:txBody>
      </p:sp>
      <p:sp>
        <p:nvSpPr>
          <p:cNvPr id="14" name="Shape 12"/>
          <p:cNvSpPr/>
          <p:nvPr/>
        </p:nvSpPr>
        <p:spPr>
          <a:xfrm>
            <a:off x="548640" y="38404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2960" y="4114800"/>
            <a:ext cx="502920" cy="502920"/>
          </a:xfrm>
          <a:prstGeom prst="ellipse">
            <a:avLst/>
          </a:prstGeom>
          <a:solidFill>
            <a:srgbClr val="1E2761"/>
          </a:solidFill>
          <a:ln/>
        </p:spPr>
        <p:txBody>
          <a:bodyPr/>
          <a:lstStyle/>
          <a:p>
            <a:endParaRPr lang="sk-SK"/>
          </a:p>
        </p:txBody>
      </p:sp>
      <p:sp>
        <p:nvSpPr>
          <p:cNvPr id="16" name="Text 14"/>
          <p:cNvSpPr txBox="1"/>
          <p:nvPr/>
        </p:nvSpPr>
        <p:spPr>
          <a:xfrm>
            <a:off x="822960" y="41148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1508760" y="40965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Leakage isn't only about the target</a:t>
            </a:r>
            <a:endParaRPr lang="en-US" sz="1450" dirty="0"/>
          </a:p>
        </p:txBody>
      </p:sp>
      <p:sp>
        <p:nvSpPr>
          <p:cNvPr id="18" name="Text 16"/>
          <p:cNvSpPr txBox="1"/>
          <p:nvPr/>
        </p:nvSpPr>
        <p:spPr>
          <a:xfrm>
            <a:off x="822960" y="48006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has_safety_program isn't a target leak - it's simply missing from score.csv. Different problem, same fix.</a:t>
            </a:r>
            <a:endParaRPr lang="en-US" sz="1200" dirty="0"/>
          </a:p>
        </p:txBody>
      </p:sp>
      <p:sp>
        <p:nvSpPr>
          <p:cNvPr id="19" name="Shape 17"/>
          <p:cNvSpPr/>
          <p:nvPr/>
        </p:nvSpPr>
        <p:spPr>
          <a:xfrm>
            <a:off x="6172200" y="38404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6446520" y="4114800"/>
            <a:ext cx="502920" cy="502920"/>
          </a:xfrm>
          <a:prstGeom prst="ellipse">
            <a:avLst/>
          </a:prstGeom>
          <a:solidFill>
            <a:srgbClr val="1E2761"/>
          </a:solidFill>
          <a:ln/>
        </p:spPr>
        <p:txBody>
          <a:bodyPr/>
          <a:lstStyle/>
          <a:p>
            <a:endParaRPr lang="sk-SK"/>
          </a:p>
        </p:txBody>
      </p:sp>
      <p:sp>
        <p:nvSpPr>
          <p:cNvPr id="21" name="Text 19"/>
          <p:cNvSpPr txBox="1"/>
          <p:nvPr/>
        </p:nvSpPr>
        <p:spPr>
          <a:xfrm>
            <a:off x="6446520" y="41148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7132320" y="40965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The selection metric is a choice</a:t>
            </a:r>
            <a:endParaRPr lang="en-US" sz="1450" dirty="0"/>
          </a:p>
        </p:txBody>
      </p:sp>
      <p:sp>
        <p:nvSpPr>
          <p:cNvPr id="23" name="Text 21"/>
          <p:cNvSpPr txBox="1"/>
          <p:nvPr/>
        </p:nvSpPr>
        <p:spPr>
          <a:xfrm>
            <a:off x="6446520" y="48006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Switching the calibration tie-breaker from AUC to Brier changed which method won.</a:t>
            </a:r>
            <a:endParaRPr lang="en-US" sz="1200" dirty="0"/>
          </a:p>
        </p:txBody>
      </p:sp>
      <p:sp>
        <p:nvSpPr>
          <p:cNvPr id="24" name="Text 2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AI-ASSISTED DEVELOPMENT</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I used AI tools</a:t>
            </a:r>
            <a:endParaRPr lang="en-US" sz="3200" dirty="0"/>
          </a:p>
        </p:txBody>
      </p:sp>
      <p:sp>
        <p:nvSpPr>
          <p:cNvPr id="4" name="Shape 2"/>
          <p:cNvSpPr/>
          <p:nvPr/>
        </p:nvSpPr>
        <p:spPr>
          <a:xfrm>
            <a:off x="548640" y="1783080"/>
            <a:ext cx="11064240" cy="1828800"/>
          </a:xfrm>
          <a:prstGeom prst="roundRect">
            <a:avLst>
              <a:gd name="adj" fmla="val 4000"/>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68680" y="2011680"/>
            <a:ext cx="10424160" cy="1417320"/>
          </a:xfrm>
          <a:prstGeom prst="rect">
            <a:avLst/>
          </a:prstGeom>
          <a:noFill/>
          <a:ln/>
        </p:spPr>
        <p:txBody>
          <a:bodyPr wrap="square" rtlCol="0" anchor="t"/>
          <a:lstStyle/>
          <a:p>
            <a:pPr marL="0" indent="0">
              <a:buNone/>
            </a:pPr>
            <a:r>
              <a:rPr lang="en-US" sz="1500" dirty="0">
                <a:solidFill>
                  <a:srgbClr val="EEF3FD"/>
                </a:solidFill>
                <a:latin typeface="Calibri" pitchFamily="34" charset="0"/>
                <a:ea typeface="Calibri" pitchFamily="34" charset="-122"/>
                <a:cs typeface="Calibri" pitchFamily="34" charset="-120"/>
              </a:rPr>
              <a:t>Claude (Anthropic) was used as an AI assistant throughout this project - to review the original prototype and help identify the data leakage and validation issues discussed above, and to support the development of the Python script and EDA notebook.</a:t>
            </a:r>
            <a:endParaRPr lang="en-US" sz="1500" dirty="0"/>
          </a:p>
        </p:txBody>
      </p:sp>
      <p:sp>
        <p:nvSpPr>
          <p:cNvPr id="6" name="Shape 4"/>
          <p:cNvSpPr/>
          <p:nvPr/>
        </p:nvSpPr>
        <p:spPr>
          <a:xfrm>
            <a:off x="548640" y="3794760"/>
            <a:ext cx="11064240" cy="1920240"/>
          </a:xfrm>
          <a:prstGeom prst="roundRect">
            <a:avLst>
              <a:gd name="adj" fmla="val 3810"/>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endParaRPr lang="sk-SK"/>
          </a:p>
        </p:txBody>
      </p:sp>
      <p:sp>
        <p:nvSpPr>
          <p:cNvPr id="7" name="Text 5"/>
          <p:cNvSpPr txBox="1"/>
          <p:nvPr/>
        </p:nvSpPr>
        <p:spPr>
          <a:xfrm>
            <a:off x="868680" y="4023360"/>
            <a:ext cx="10424160" cy="1508760"/>
          </a:xfrm>
          <a:prstGeom prst="rect">
            <a:avLst/>
          </a:prstGeom>
          <a:noFill/>
          <a:ln/>
        </p:spPr>
        <p:txBody>
          <a:bodyPr wrap="square" rtlCol="0" anchor="t"/>
          <a:lstStyle/>
          <a:p>
            <a:r>
              <a:rPr lang="en-US" sz="1500" dirty="0">
                <a:solidFill>
                  <a:srgbClr val="EEF3FD"/>
                </a:solidFill>
                <a:latin typeface="Calibri" pitchFamily="34" charset="0"/>
                <a:ea typeface="Calibri" pitchFamily="34" charset="-122"/>
                <a:cs typeface="Calibri" pitchFamily="34" charset="-120"/>
              </a:rPr>
              <a:t>It was also used to improve parts of the documentation and to discuss some of the technical decisions made during the project, though every suggestion was checked against the actual dataset and code before being incorporated. All final code, analysis, and conclusions in this submission were reviewed and are understood by me.</a:t>
            </a:r>
            <a:endParaRPr lang="en-US" sz="1500" dirty="0"/>
          </a:p>
        </p:txBody>
      </p:sp>
      <p:sp>
        <p:nvSpPr>
          <p:cNvPr id="8"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29895" y="1153428"/>
            <a:ext cx="5486400" cy="5486400"/>
          </a:xfrm>
          <a:prstGeom prst="ellipse">
            <a:avLst/>
          </a:prstGeom>
          <a:solidFill>
            <a:srgbClr val="141A45"/>
          </a:solidFill>
          <a:ln/>
        </p:spPr>
        <p:txBody>
          <a:bodyPr/>
          <a:lstStyle/>
          <a:p>
            <a:endParaRPr lang="sk-SK"/>
          </a:p>
        </p:txBody>
      </p:sp>
      <p:sp>
        <p:nvSpPr>
          <p:cNvPr id="3" name="Text 1"/>
          <p:cNvSpPr txBox="1"/>
          <p:nvPr/>
        </p:nvSpPr>
        <p:spPr>
          <a:xfrm>
            <a:off x="731520" y="2377440"/>
            <a:ext cx="91440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txBox="1"/>
          <p:nvPr/>
        </p:nvSpPr>
        <p:spPr>
          <a:xfrm>
            <a:off x="731520" y="3200400"/>
            <a:ext cx="914400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5" name="Shape 3"/>
          <p:cNvSpPr/>
          <p:nvPr/>
        </p:nvSpPr>
        <p:spPr>
          <a:xfrm>
            <a:off x="731520" y="3977640"/>
            <a:ext cx="2011680" cy="0"/>
          </a:xfrm>
          <a:prstGeom prst="line">
            <a:avLst/>
          </a:prstGeom>
          <a:noFill/>
          <a:ln w="25400">
            <a:solidFill>
              <a:srgbClr val="E8A33D"/>
            </a:solidFill>
            <a:prstDash val="solid"/>
          </a:ln>
        </p:spPr>
        <p:txBody>
          <a:bodyPr/>
          <a:lstStyle/>
          <a:p>
            <a:endParaRPr lang="sk-SK"/>
          </a:p>
        </p:txBody>
      </p:sp>
      <p:sp>
        <p:nvSpPr>
          <p:cNvPr id="6" name="Text 4"/>
          <p:cNvSpPr txBox="1"/>
          <p:nvPr/>
        </p:nvSpPr>
        <p:spPr>
          <a:xfrm>
            <a:off x="731520" y="4160520"/>
            <a:ext cx="54864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Juraj Riedel</a:t>
            </a:r>
            <a:endParaRPr lang="en-US" sz="1500" dirty="0"/>
          </a:p>
        </p:txBody>
      </p:sp>
      <p:sp>
        <p:nvSpPr>
          <p:cNvPr id="7" name="Text 5">
            <a:hlinkClick r:id="rId3"/>
          </p:cNvPr>
          <p:cNvSpPr txBox="1"/>
          <p:nvPr/>
        </p:nvSpPr>
        <p:spPr>
          <a:xfrm>
            <a:off x="731520" y="4480560"/>
            <a:ext cx="3359217" cy="365760"/>
          </a:xfrm>
          <a:prstGeom prst="rect">
            <a:avLst/>
          </a:prstGeom>
          <a:noFill/>
          <a:ln/>
        </p:spPr>
        <p:txBody>
          <a:bodyPr wrap="square" rtlCol="0" anchor="ctr"/>
          <a:lstStyle/>
          <a:p>
            <a:pPr marL="0" indent="0">
              <a:buNone/>
            </a:pPr>
            <a:r>
              <a:rPr lang="en-US" sz="1200" dirty="0">
                <a:solidFill>
                  <a:srgbClr val="EEF3FD"/>
                </a:solidFill>
                <a:latin typeface="Calibri" pitchFamily="34" charset="0"/>
                <a:ea typeface="Calibri" pitchFamily="34" charset="-122"/>
                <a:cs typeface="Calibri" pitchFamily="34" charset="-120"/>
              </a:rPr>
              <a:t>Repository: </a:t>
            </a:r>
            <a:r>
              <a:rPr lang="en-US" sz="1200" dirty="0">
                <a:solidFill>
                  <a:srgbClr val="EEF3FD"/>
                </a:solidFill>
                <a:latin typeface="Calibri" pitchFamily="34" charset="0"/>
                <a:ea typeface="Calibri" pitchFamily="34" charset="-122"/>
                <a:cs typeface="Calibri" pitchFamily="34" charset="-120"/>
                <a:hlinkClick r:id="rId3"/>
              </a:rPr>
              <a:t>https://github.com/jurajriedel/Riedel-Commercial-Auto-Risk-Scoring-Case-Study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2641</Words>
  <Application>Microsoft Macintosh PowerPoint</Application>
  <PresentationFormat>Vlastná</PresentationFormat>
  <Paragraphs>281</Paragraphs>
  <Slides>18</Slides>
  <Notes>18</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18</vt:i4>
      </vt:variant>
    </vt:vector>
  </HeadingPairs>
  <TitlesOfParts>
    <vt:vector size="23" baseType="lpstr">
      <vt:lpstr>Aptos</vt:lpstr>
      <vt:lpstr>Arial</vt:lpstr>
      <vt:lpstr>Calibri</vt:lpstr>
      <vt:lpstr>Cambria</vt:lpstr>
      <vt:lpstr>Office Theme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Zurich Insurance - ZNA Chief Data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Auto Insurance - Claim Risk Scoring</dc:title>
  <dc:subject>PptxGenJS Presentation</dc:subject>
  <dc:creator>Juraj Riedel</dc:creator>
  <cp:lastModifiedBy>Riedel Juraj</cp:lastModifiedBy>
  <cp:revision>2</cp:revision>
  <dcterms:created xsi:type="dcterms:W3CDTF">2026-09-16T11:45:12Z</dcterms:created>
  <dcterms:modified xsi:type="dcterms:W3CDTF">2026-09-16T13:03:16Z</dcterms:modified>
</cp:coreProperties>
</file>